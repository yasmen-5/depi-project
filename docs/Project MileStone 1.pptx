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60" r:id="rId4"/>
    <p:sldId id="264" r:id="rId5"/>
    <p:sldId id="265" r:id="rId6"/>
    <p:sldId id="266" r:id="rId7"/>
    <p:sldId id="267" r:id="rId8"/>
    <p:sldId id="258" r:id="rId9"/>
    <p:sldId id="259" r:id="rId10"/>
    <p:sldId id="268" r:id="rId11"/>
    <p:sldId id="261" r:id="rId12"/>
    <p:sldId id="262" r:id="rId13"/>
    <p:sldId id="270" r:id="rId14"/>
    <p:sldId id="263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6DFE8"/>
    <a:srgbClr val="CBD8E0"/>
    <a:srgbClr val="D3DCE5"/>
    <a:srgbClr val="D9E0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5043" autoAdjust="0"/>
  </p:normalViewPr>
  <p:slideViewPr>
    <p:cSldViewPr snapToGrid="0">
      <p:cViewPr>
        <p:scale>
          <a:sx n="66" d="100"/>
          <a:sy n="66" d="100"/>
        </p:scale>
        <p:origin x="92" y="-6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A766AB-078C-4DB8-A346-E615DEDB9021}" type="datetimeFigureOut">
              <a:rPr lang="en-US" smtClean="0"/>
              <a:t>2026-10-17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C4EEF2-73AE-4130-A487-F325D99749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9594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C4EEF2-73AE-4130-A487-F325D997493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8082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C4EEF2-73AE-4130-A487-F325D997493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7579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E8690-F667-374F-E7F4-FF298C6DB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F6CE5D-6035-7E46-224D-5E95368EB5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125E34-05F8-DFB1-1D36-CE05DBD726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A807B7-109B-C4B1-032C-F29CF7A0F3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C4EEF2-73AE-4130-A487-F325D997493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3889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4E8E2C-5850-73EA-2DDB-88C9342C85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C26E69-50E3-5B37-D8B7-47AD3FD85D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352C84-228F-AA99-5866-AE6DC31BD9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CEE4E6-D2D3-E427-0267-3AB39077C5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C4EEF2-73AE-4130-A487-F325D997493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02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DD9FE-2203-FB46-E07D-158D6951FB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C89654-0BE6-2B42-C3ED-92F7E39048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8A3EE8-320B-61AB-EB7F-9AB743FBF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9B78E-83C1-48DE-821B-45AF93A1D16C}" type="datetimeFigureOut">
              <a:rPr lang="en-US" smtClean="0"/>
              <a:t>2026-10-17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6108F8-3E72-A348-ECE8-FD577C8A1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E0D50A-4538-0D84-8C7C-107220406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701A6-692F-4006-9752-77E6B03A92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0705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4ABC6-EE91-E573-2BCE-EB7F8D2A9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FE204A-42A3-CD20-46B1-6F0DB93474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F115B3-A5ED-C455-3FE4-9F58F10E8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9B78E-83C1-48DE-821B-45AF93A1D16C}" type="datetimeFigureOut">
              <a:rPr lang="en-US" smtClean="0"/>
              <a:t>2026-10-17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7900D6-8982-D733-B032-BC25845AF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25C334-968D-1E84-6E6C-695F77159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701A6-692F-4006-9752-77E6B03A92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6490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7A8DE-B672-F48F-FB30-BE5772AA2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3064C7-4B9C-B9A9-6334-549468C4BF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C6877B-CDE3-1C2C-403F-52111AA8B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9B78E-83C1-48DE-821B-45AF93A1D16C}" type="datetimeFigureOut">
              <a:rPr lang="en-US" smtClean="0"/>
              <a:t>2026-10-17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56FF97-057A-7B76-5421-BA993C032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2CBF2-5AF6-C401-9681-39C6681BC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701A6-692F-4006-9752-77E6B03A92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7753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7F8E8-2C77-FBA1-6547-9551D14A5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C513F3-D0D6-D954-961A-D75A3B3D7F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2B442B-ABAA-4334-5DD8-9B314CCF91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47F15A-B03B-E7B2-EA77-3055D5376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9B78E-83C1-48DE-821B-45AF93A1D16C}" type="datetimeFigureOut">
              <a:rPr lang="en-US" smtClean="0"/>
              <a:t>2026-10-17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0304EC-33CC-EAF6-6847-E6E13A520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1C2BF0-9F78-3018-4373-5D60649C9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701A6-692F-4006-9752-77E6B03A92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8457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D8B2E-E3B7-57E1-50E4-757424A30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F0771D-9448-4214-3160-D12F094EC3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C9BB1A-6EB3-3FDC-F006-11F3A66E3D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C12BC2-DD50-A029-C1D3-BBCD72231B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5DC4E1-E4F7-7D49-95C4-82B7164A98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489585-DFC5-D652-8F8C-61FDFBA4C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9B78E-83C1-48DE-821B-45AF93A1D16C}" type="datetimeFigureOut">
              <a:rPr lang="en-US" smtClean="0"/>
              <a:t>2026-10-17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91719B-A7E2-CE12-E80E-388F552E2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631C86-49E2-12D3-CAD2-8DF066B2A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701A6-692F-4006-9752-77E6B03A92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9970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C44FC-C836-83F8-2EF2-9E41B28D1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E89EB0-3AA7-E945-FF77-87A33631E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9B78E-83C1-48DE-821B-45AF93A1D16C}" type="datetimeFigureOut">
              <a:rPr lang="en-US" smtClean="0"/>
              <a:t>2026-10-17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0664E3-6A44-708F-DDF5-E212AB88C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11A4C9-0B15-BA99-50B6-C13891973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701A6-692F-4006-9752-77E6B03A92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0687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F4D0B6-C845-E7FC-20A5-11015BE55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9B78E-83C1-48DE-821B-45AF93A1D16C}" type="datetimeFigureOut">
              <a:rPr lang="en-US" smtClean="0"/>
              <a:t>2026-10-17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4ADAEE-8C49-52AF-1D6B-23D7B6CE2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A2E0E1-8201-D6AE-C1C2-8CF966373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701A6-692F-4006-9752-77E6B03A92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0071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E018B-147E-DDD2-B14C-791BAF7CF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DCB34A-B858-A8EE-A281-26F36FEA65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CB29BF-679B-B534-CA75-6C313D625B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1F97F0-49FB-1FC0-C474-52261712C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9B78E-83C1-48DE-821B-45AF93A1D16C}" type="datetimeFigureOut">
              <a:rPr lang="en-US" smtClean="0"/>
              <a:t>2026-10-17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AB8E89-93C3-688F-ECBD-CFA76BCD8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95C28F-6244-7C3E-4B78-CBBD14D66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701A6-692F-4006-9752-77E6B03A92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3310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22EBC-B9C0-3202-8E1E-4309BDF42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EA08C7-0F0C-51AD-4E73-F66E5496DF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546245-7A0C-8291-6505-1518F42308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3050C2-5072-395F-BA1A-E063D1229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9B78E-83C1-48DE-821B-45AF93A1D16C}" type="datetimeFigureOut">
              <a:rPr lang="en-US" smtClean="0"/>
              <a:t>2026-10-17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F6E856-1872-D401-A974-28F63E251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D1EA81-06F7-131F-DEDE-5437D3DA3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701A6-692F-4006-9752-77E6B03A92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037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98EA3-11D9-CF31-FDE4-232ECDCD8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448DB2-FF59-039B-76D1-6C8D0CD972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B39156-BB8E-27B7-B596-777A6A9BF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9B78E-83C1-48DE-821B-45AF93A1D16C}" type="datetimeFigureOut">
              <a:rPr lang="en-US" smtClean="0"/>
              <a:t>2026-10-17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EFE46E-28C1-958B-1B08-3EFBD611B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41F4C8-9619-D765-54B4-22D8B3878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701A6-692F-4006-9752-77E6B03A92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7906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D1DCDF-734B-9E2F-D1C6-91F3B53A6E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CCB4D3-7AC1-D262-A4D8-6535CD27F3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DF56A3-53A2-E62D-81B9-17BBF1CBF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9B78E-83C1-48DE-821B-45AF93A1D16C}" type="datetimeFigureOut">
              <a:rPr lang="en-US" smtClean="0"/>
              <a:t>2026-10-17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72F649-0ACD-117F-9099-677285C4A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1070DA-C24E-4B49-9200-0D01D5E5A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701A6-692F-4006-9752-77E6B03A92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1912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E722E1-8196-405B-918B-7265A5EB4A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7AF4FD-7FF4-7219-017F-1ED9B75373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57E625-0158-3E6D-8041-2CB5DF7112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9B78E-83C1-48DE-821B-45AF93A1D16C}" type="datetimeFigureOut">
              <a:rPr lang="en-US" smtClean="0"/>
              <a:t>2026-10-17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1D5032-59FE-A7FF-E601-74661D8A4D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797029-2F20-A16C-5DD9-C20CF540CA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9701A6-692F-4006-9752-77E6B03A92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9600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13" Type="http://schemas.microsoft.com/office/2007/relationships/hdphoto" Target="../media/hdphoto3.wdp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12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11" Type="http://schemas.microsoft.com/office/2007/relationships/hdphoto" Target="../media/hdphoto2.wdp"/><Relationship Id="rId5" Type="http://schemas.openxmlformats.org/officeDocument/2006/relationships/image" Target="../media/image1.jpeg"/><Relationship Id="rId10" Type="http://schemas.openxmlformats.org/officeDocument/2006/relationships/image" Target="../media/image8.png"/><Relationship Id="rId4" Type="http://schemas.openxmlformats.org/officeDocument/2006/relationships/image" Target="../media/image5.jp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13" Type="http://schemas.microsoft.com/office/2007/relationships/hdphoto" Target="../media/hdphoto4.wdp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12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3.png"/><Relationship Id="rId5" Type="http://schemas.microsoft.com/office/2007/relationships/hdphoto" Target="../media/hdphoto1.wdp"/><Relationship Id="rId10" Type="http://schemas.microsoft.com/office/2007/relationships/hdphoto" Target="../media/hdphoto3.wdp"/><Relationship Id="rId4" Type="http://schemas.openxmlformats.org/officeDocument/2006/relationships/image" Target="../media/image6.png"/><Relationship Id="rId9" Type="http://schemas.openxmlformats.org/officeDocument/2006/relationships/image" Target="../media/image9.png"/><Relationship Id="rId1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13" Type="http://schemas.microsoft.com/office/2007/relationships/hdphoto" Target="../media/hdphoto4.wdp"/><Relationship Id="rId18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12" Type="http://schemas.openxmlformats.org/officeDocument/2006/relationships/image" Target="../media/image10.png"/><Relationship Id="rId17" Type="http://schemas.openxmlformats.org/officeDocument/2006/relationships/image" Target="../media/image13.jpeg"/><Relationship Id="rId2" Type="http://schemas.openxmlformats.org/officeDocument/2006/relationships/image" Target="../media/image1.jpeg"/><Relationship Id="rId16" Type="http://schemas.openxmlformats.org/officeDocument/2006/relationships/image" Target="../media/image12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3.png"/><Relationship Id="rId5" Type="http://schemas.microsoft.com/office/2007/relationships/hdphoto" Target="../media/hdphoto1.wdp"/><Relationship Id="rId15" Type="http://schemas.openxmlformats.org/officeDocument/2006/relationships/image" Target="../media/image11.png"/><Relationship Id="rId10" Type="http://schemas.microsoft.com/office/2007/relationships/hdphoto" Target="../media/hdphoto3.wdp"/><Relationship Id="rId4" Type="http://schemas.openxmlformats.org/officeDocument/2006/relationships/image" Target="../media/image6.png"/><Relationship Id="rId9" Type="http://schemas.openxmlformats.org/officeDocument/2006/relationships/image" Target="../media/image9.png"/><Relationship Id="rId1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0.png"/><Relationship Id="rId18" Type="http://schemas.openxmlformats.org/officeDocument/2006/relationships/image" Target="../media/image12.jpeg"/><Relationship Id="rId3" Type="http://schemas.openxmlformats.org/officeDocument/2006/relationships/image" Target="../media/image1.jpeg"/><Relationship Id="rId21" Type="http://schemas.openxmlformats.org/officeDocument/2006/relationships/image" Target="../media/image16.gif"/><Relationship Id="rId7" Type="http://schemas.openxmlformats.org/officeDocument/2006/relationships/image" Target="../media/image7.png"/><Relationship Id="rId12" Type="http://schemas.openxmlformats.org/officeDocument/2006/relationships/image" Target="../media/image3.png"/><Relationship Id="rId17" Type="http://schemas.openxmlformats.org/officeDocument/2006/relationships/image" Target="../media/image13.jpe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1.png"/><Relationship Id="rId20" Type="http://schemas.openxmlformats.org/officeDocument/2006/relationships/image" Target="../media/image15.jpg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11" Type="http://schemas.microsoft.com/office/2007/relationships/hdphoto" Target="../media/hdphoto3.wdp"/><Relationship Id="rId5" Type="http://schemas.openxmlformats.org/officeDocument/2006/relationships/image" Target="../media/image6.png"/><Relationship Id="rId15" Type="http://schemas.openxmlformats.org/officeDocument/2006/relationships/image" Target="../media/image4.png"/><Relationship Id="rId10" Type="http://schemas.openxmlformats.org/officeDocument/2006/relationships/image" Target="../media/image9.png"/><Relationship Id="rId19" Type="http://schemas.openxmlformats.org/officeDocument/2006/relationships/image" Target="../media/image14.png"/><Relationship Id="rId4" Type="http://schemas.openxmlformats.org/officeDocument/2006/relationships/image" Target="../media/image2.png"/><Relationship Id="rId9" Type="http://schemas.microsoft.com/office/2007/relationships/hdphoto" Target="../media/hdphoto2.wdp"/><Relationship Id="rId14" Type="http://schemas.microsoft.com/office/2007/relationships/hdphoto" Target="../media/hdphoto4.wdp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0.png"/><Relationship Id="rId18" Type="http://schemas.openxmlformats.org/officeDocument/2006/relationships/image" Target="../media/image13.jpeg"/><Relationship Id="rId3" Type="http://schemas.openxmlformats.org/officeDocument/2006/relationships/image" Target="../media/image1.jpeg"/><Relationship Id="rId21" Type="http://schemas.openxmlformats.org/officeDocument/2006/relationships/image" Target="../media/image16.gif"/><Relationship Id="rId7" Type="http://schemas.openxmlformats.org/officeDocument/2006/relationships/image" Target="../media/image7.png"/><Relationship Id="rId12" Type="http://schemas.openxmlformats.org/officeDocument/2006/relationships/image" Target="../media/image3.png"/><Relationship Id="rId17" Type="http://schemas.openxmlformats.org/officeDocument/2006/relationships/image" Target="../media/image12.jpe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1.png"/><Relationship Id="rId20" Type="http://schemas.openxmlformats.org/officeDocument/2006/relationships/image" Target="../media/image15.jpg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11" Type="http://schemas.microsoft.com/office/2007/relationships/hdphoto" Target="../media/hdphoto3.wdp"/><Relationship Id="rId5" Type="http://schemas.openxmlformats.org/officeDocument/2006/relationships/image" Target="../media/image6.png"/><Relationship Id="rId15" Type="http://schemas.openxmlformats.org/officeDocument/2006/relationships/image" Target="../media/image4.png"/><Relationship Id="rId23" Type="http://schemas.openxmlformats.org/officeDocument/2006/relationships/image" Target="../media/image18.png"/><Relationship Id="rId10" Type="http://schemas.openxmlformats.org/officeDocument/2006/relationships/image" Target="../media/image9.png"/><Relationship Id="rId19" Type="http://schemas.openxmlformats.org/officeDocument/2006/relationships/image" Target="../media/image14.png"/><Relationship Id="rId4" Type="http://schemas.openxmlformats.org/officeDocument/2006/relationships/image" Target="../media/image2.png"/><Relationship Id="rId9" Type="http://schemas.microsoft.com/office/2007/relationships/hdphoto" Target="../media/hdphoto2.wdp"/><Relationship Id="rId14" Type="http://schemas.microsoft.com/office/2007/relationships/hdphoto" Target="../media/hdphoto4.wdp"/><Relationship Id="rId22" Type="http://schemas.openxmlformats.org/officeDocument/2006/relationships/image" Target="../media/image17.jp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0.png"/><Relationship Id="rId18" Type="http://schemas.openxmlformats.org/officeDocument/2006/relationships/image" Target="../media/image13.jpeg"/><Relationship Id="rId3" Type="http://schemas.openxmlformats.org/officeDocument/2006/relationships/image" Target="../media/image1.jpeg"/><Relationship Id="rId21" Type="http://schemas.openxmlformats.org/officeDocument/2006/relationships/image" Target="../media/image16.gif"/><Relationship Id="rId7" Type="http://schemas.openxmlformats.org/officeDocument/2006/relationships/image" Target="../media/image7.png"/><Relationship Id="rId12" Type="http://schemas.openxmlformats.org/officeDocument/2006/relationships/image" Target="../media/image3.png"/><Relationship Id="rId17" Type="http://schemas.openxmlformats.org/officeDocument/2006/relationships/image" Target="../media/image12.jpe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1.png"/><Relationship Id="rId20" Type="http://schemas.openxmlformats.org/officeDocument/2006/relationships/image" Target="../media/image15.jpg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11" Type="http://schemas.microsoft.com/office/2007/relationships/hdphoto" Target="../media/hdphoto3.wdp"/><Relationship Id="rId5" Type="http://schemas.openxmlformats.org/officeDocument/2006/relationships/image" Target="../media/image6.png"/><Relationship Id="rId15" Type="http://schemas.openxmlformats.org/officeDocument/2006/relationships/image" Target="../media/image4.png"/><Relationship Id="rId23" Type="http://schemas.openxmlformats.org/officeDocument/2006/relationships/image" Target="../media/image18.png"/><Relationship Id="rId10" Type="http://schemas.openxmlformats.org/officeDocument/2006/relationships/image" Target="../media/image9.png"/><Relationship Id="rId19" Type="http://schemas.openxmlformats.org/officeDocument/2006/relationships/image" Target="../media/image14.png"/><Relationship Id="rId4" Type="http://schemas.openxmlformats.org/officeDocument/2006/relationships/image" Target="../media/image2.png"/><Relationship Id="rId9" Type="http://schemas.microsoft.com/office/2007/relationships/hdphoto" Target="../media/hdphoto2.wdp"/><Relationship Id="rId14" Type="http://schemas.microsoft.com/office/2007/relationships/hdphoto" Target="../media/hdphoto4.wdp"/><Relationship Id="rId22" Type="http://schemas.openxmlformats.org/officeDocument/2006/relationships/image" Target="../media/image17.jp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.png"/><Relationship Id="rId7" Type="http://schemas.microsoft.com/office/2007/relationships/hdphoto" Target="../media/hdphoto3.wdp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microsoft.com/office/2007/relationships/hdphoto" Target="../media/hdphoto2.wdp"/><Relationship Id="rId10" Type="http://schemas.openxmlformats.org/officeDocument/2006/relationships/image" Target="../media/image18.png"/><Relationship Id="rId4" Type="http://schemas.openxmlformats.org/officeDocument/2006/relationships/image" Target="../media/image8.png"/><Relationship Id="rId9" Type="http://schemas.openxmlformats.org/officeDocument/2006/relationships/image" Target="../media/image17.jp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2.png"/><Relationship Id="rId7" Type="http://schemas.microsoft.com/office/2007/relationships/hdphoto" Target="../media/hdphoto3.wdp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microsoft.com/office/2007/relationships/hdphoto" Target="../media/hdphoto2.wdp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data.mendeley.com/datasets/39tbt2jd7r/1" TargetMode="External"/><Relationship Id="rId13" Type="http://schemas.openxmlformats.org/officeDocument/2006/relationships/image" Target="../media/image21.png"/><Relationship Id="rId3" Type="http://schemas.openxmlformats.org/officeDocument/2006/relationships/image" Target="../media/image2.png"/><Relationship Id="rId7" Type="http://schemas.microsoft.com/office/2007/relationships/hdphoto" Target="../media/hdphoto3.wdp"/><Relationship Id="rId12" Type="http://schemas.openxmlformats.org/officeDocument/2006/relationships/image" Target="../media/image2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hyperlink" Target="https://data.mendeley.com/datasets/y7pckrw6z2/1" TargetMode="External"/><Relationship Id="rId5" Type="http://schemas.microsoft.com/office/2007/relationships/hdphoto" Target="../media/hdphoto2.wdp"/><Relationship Id="rId10" Type="http://schemas.openxmlformats.org/officeDocument/2006/relationships/hyperlink" Target="https://www.kaggle.com/competitions/asl-signs/data" TargetMode="External"/><Relationship Id="rId4" Type="http://schemas.openxmlformats.org/officeDocument/2006/relationships/image" Target="../media/image8.png"/><Relationship Id="rId9" Type="http://schemas.openxmlformats.org/officeDocument/2006/relationships/hyperlink" Target="https://www.microsoft.com/en-us/research/project/asl-citizen/" TargetMode="External"/><Relationship Id="rId1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0.png"/><Relationship Id="rId3" Type="http://schemas.openxmlformats.org/officeDocument/2006/relationships/image" Target="../media/image2.png"/><Relationship Id="rId7" Type="http://schemas.microsoft.com/office/2007/relationships/hdphoto" Target="../media/hdphoto3.wdp"/><Relationship Id="rId12" Type="http://schemas.openxmlformats.org/officeDocument/2006/relationships/hyperlink" Target="https://data.mendeley.com/datasets/y7pckrw6z2/1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hyperlink" Target="https://www.kaggle.com/competitions/asl-signs/data" TargetMode="External"/><Relationship Id="rId5" Type="http://schemas.microsoft.com/office/2007/relationships/hdphoto" Target="../media/hdphoto2.wdp"/><Relationship Id="rId10" Type="http://schemas.openxmlformats.org/officeDocument/2006/relationships/hyperlink" Target="https://www.microsoft.com/en-us/research/project/asl-citizen/" TargetMode="External"/><Relationship Id="rId4" Type="http://schemas.openxmlformats.org/officeDocument/2006/relationships/image" Target="../media/image8.png"/><Relationship Id="rId9" Type="http://schemas.openxmlformats.org/officeDocument/2006/relationships/hyperlink" Target="https://data.mendeley.com/datasets/39tbt2jd7r/1" TargetMode="External"/><Relationship Id="rId1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2.png"/><Relationship Id="rId3" Type="http://schemas.openxmlformats.org/officeDocument/2006/relationships/image" Target="../media/image2.png"/><Relationship Id="rId7" Type="http://schemas.microsoft.com/office/2007/relationships/hdphoto" Target="../media/hdphoto3.wdp"/><Relationship Id="rId12" Type="http://schemas.openxmlformats.org/officeDocument/2006/relationships/image" Target="../media/image2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26.png"/><Relationship Id="rId5" Type="http://schemas.microsoft.com/office/2007/relationships/hdphoto" Target="../media/hdphoto2.wdp"/><Relationship Id="rId10" Type="http://schemas.openxmlformats.org/officeDocument/2006/relationships/image" Target="../media/image25.png"/><Relationship Id="rId4" Type="http://schemas.openxmlformats.org/officeDocument/2006/relationships/image" Target="../media/image8.png"/><Relationship Id="rId9" Type="http://schemas.openxmlformats.org/officeDocument/2006/relationships/image" Target="../media/image24.png"/><Relationship Id="rId1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2.png"/><Relationship Id="rId7" Type="http://schemas.microsoft.com/office/2007/relationships/hdphoto" Target="../media/hdphoto3.wdp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microsoft.com/office/2007/relationships/hdphoto" Target="../media/hdphoto2.wdp"/><Relationship Id="rId4" Type="http://schemas.openxmlformats.org/officeDocument/2006/relationships/image" Target="../media/image8.png"/><Relationship Id="rId9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jpg"/><Relationship Id="rId3" Type="http://schemas.openxmlformats.org/officeDocument/2006/relationships/image" Target="../media/image2.png"/><Relationship Id="rId7" Type="http://schemas.microsoft.com/office/2007/relationships/hdphoto" Target="../media/hdphoto3.wdp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microsoft.com/office/2007/relationships/hdphoto" Target="../media/hdphoto2.wdp"/><Relationship Id="rId4" Type="http://schemas.openxmlformats.org/officeDocument/2006/relationships/image" Target="../media/image8.png"/><Relationship Id="rId9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3BA01FA4-6140-7C06-ED79-0087A26D6E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" y="-54802"/>
            <a:ext cx="12191999" cy="696760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B4A6060-1D72-252B-6859-1393BD47FB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6" y="1795563"/>
            <a:ext cx="9144000" cy="2387600"/>
          </a:xfrm>
        </p:spPr>
        <p:txBody>
          <a:bodyPr/>
          <a:lstStyle/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Project Rafeeq </a:t>
            </a:r>
            <a:b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3400" b="1" dirty="0">
                <a:latin typeface="Cambria" panose="02040503050406030204" pitchFamily="18" charset="0"/>
                <a:ea typeface="Cambria" panose="02040503050406030204" pitchFamily="18" charset="0"/>
              </a:rPr>
              <a:t>First Milestone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F9999C-7550-5F3C-0D10-6AA512B34F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6" y="4234556"/>
            <a:ext cx="9144000" cy="1655762"/>
          </a:xfrm>
        </p:spPr>
        <p:txBody>
          <a:bodyPr>
            <a:normAutofit/>
          </a:bodyPr>
          <a:lstStyle/>
          <a:p>
            <a:r>
              <a:rPr lang="en-US" sz="2300" dirty="0">
                <a:latin typeface="Cambria" panose="02040503050406030204" pitchFamily="18" charset="0"/>
                <a:ea typeface="Cambria" panose="02040503050406030204" pitchFamily="18" charset="0"/>
              </a:rPr>
              <a:t>Browser-Based Accessibility Extension </a:t>
            </a:r>
          </a:p>
        </p:txBody>
      </p:sp>
      <p:pic>
        <p:nvPicPr>
          <p:cNvPr id="16" name="Picture 15" descr="مبادرة رواد مصر الرقمية">
            <a:extLst>
              <a:ext uri="{FF2B5EF4-FFF2-40B4-BE49-F238E27FC236}">
                <a16:creationId xmlns:a16="http://schemas.microsoft.com/office/drawing/2014/main" id="{3DC5E80A-749A-7A35-82B4-AE70619DF3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9453" y="263979"/>
            <a:ext cx="2457398" cy="2259221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6CD7B4B2-141F-972E-4574-12A759606C2A}"/>
              </a:ext>
            </a:extLst>
          </p:cNvPr>
          <p:cNvSpPr txBox="1"/>
          <p:nvPr/>
        </p:nvSpPr>
        <p:spPr>
          <a:xfrm>
            <a:off x="5262133" y="-774796"/>
            <a:ext cx="990785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latin typeface="Cambria" panose="02040503050406030204" pitchFamily="18" charset="0"/>
                <a:ea typeface="Cambria" panose="02040503050406030204" pitchFamily="18" charset="0"/>
              </a:rPr>
              <a:t>Rafeeq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3DD851-9551-E32A-FCF7-00693BF512C8}"/>
              </a:ext>
            </a:extLst>
          </p:cNvPr>
          <p:cNvSpPr txBox="1"/>
          <p:nvPr/>
        </p:nvSpPr>
        <p:spPr>
          <a:xfrm>
            <a:off x="467136" y="7944043"/>
            <a:ext cx="9995343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What is Rafeeq?</a:t>
            </a:r>
          </a:p>
          <a:p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An adaptive, multi-modal digital ecosystem that bridges communication gaps for people with diverse disabilities: </a:t>
            </a: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Deaf/Mute, Blind, Dyslexic users. </a:t>
            </a:r>
          </a:p>
          <a:p>
            <a:endParaRPr lang="en-US" sz="3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What makes it different?</a:t>
            </a:r>
          </a:p>
          <a:p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 Rather than a standalone mobile app, Rafeeq is architected as a </a:t>
            </a: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lightweight browser extension 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that injects assistive UI overlays and real-time processing directly into mainstream web communication platforms such as Web and Facebook. meeting users where they </a:t>
            </a:r>
            <a:r>
              <a:rPr lang="en-US" sz="3000" dirty="0" err="1">
                <a:latin typeface="Cambria" panose="02040503050406030204" pitchFamily="18" charset="0"/>
                <a:ea typeface="Cambria" panose="02040503050406030204" pitchFamily="18" charset="0"/>
              </a:rPr>
              <a:t>alreadyWhatsApp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  communicate.</a:t>
            </a:r>
          </a:p>
        </p:txBody>
      </p:sp>
    </p:spTree>
    <p:extLst>
      <p:ext uri="{BB962C8B-B14F-4D97-AF65-F5344CB8AC3E}">
        <p14:creationId xmlns:p14="http://schemas.microsoft.com/office/powerpoint/2010/main" val="14023779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BA8AF2-CFE3-A398-85E1-23587396A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229367-273F-1430-DC55-3D9EA228BA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939866" y="2165507"/>
            <a:ext cx="2089751" cy="2089751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F98320C-4016-9D5D-F0A8-A5F47DC1EC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812"/>
          <a:stretch>
            <a:fillRect/>
          </a:stretch>
        </p:blipFill>
        <p:spPr>
          <a:xfrm>
            <a:off x="4962294" y="2157362"/>
            <a:ext cx="2067323" cy="2089751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F8B7CCE-ED84-6405-184A-745D62ED6F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175"/>
          <a:stretch>
            <a:fillRect/>
          </a:stretch>
        </p:blipFill>
        <p:spPr>
          <a:xfrm>
            <a:off x="4939867" y="2165506"/>
            <a:ext cx="2089751" cy="2089752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6A30F71-B0FB-20C6-B0BB-3A5D09257EC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4802"/>
            <a:ext cx="12191999" cy="6967603"/>
          </a:xfrm>
          <a:prstGeom prst="rect">
            <a:avLst/>
          </a:prstGeom>
        </p:spPr>
      </p:pic>
      <p:pic>
        <p:nvPicPr>
          <p:cNvPr id="8" name="Picture 7" descr="مبادرة رواد مصر الرقمية">
            <a:extLst>
              <a:ext uri="{FF2B5EF4-FFF2-40B4-BE49-F238E27FC236}">
                <a16:creationId xmlns:a16="http://schemas.microsoft.com/office/drawing/2014/main" id="{5AE9AF45-FF6B-D57C-439C-09B0AB991F2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05906" y="0"/>
            <a:ext cx="1014592" cy="93277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AA585CC-8A44-26FC-6293-F5E2176257CF}"/>
              </a:ext>
            </a:extLst>
          </p:cNvPr>
          <p:cNvSpPr txBox="1"/>
          <p:nvPr/>
        </p:nvSpPr>
        <p:spPr>
          <a:xfrm>
            <a:off x="467136" y="890111"/>
            <a:ext cx="9995343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What is Rafeeq?</a:t>
            </a:r>
          </a:p>
          <a:p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An adaptive, multi-modal digital ecosystem that bridges communication gaps for people with diverse disabilities: </a:t>
            </a: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Deaf/Mute, Blind, Dyslexic users. </a:t>
            </a:r>
          </a:p>
          <a:p>
            <a:endParaRPr lang="en-US" sz="3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What makes it different?</a:t>
            </a:r>
          </a:p>
          <a:p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 Rather than a standalone mobile app, Rafeeq is architected as a </a:t>
            </a: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lightweight browser extension 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that injects assistive UI overlays and real-time processing directly into mainstream web communication platforms such as Web and Facebook. meeting users where they </a:t>
            </a:r>
            <a:r>
              <a:rPr lang="en-US" sz="3000" dirty="0" err="1">
                <a:latin typeface="Cambria" panose="02040503050406030204" pitchFamily="18" charset="0"/>
                <a:ea typeface="Cambria" panose="02040503050406030204" pitchFamily="18" charset="0"/>
              </a:rPr>
              <a:t>alreadyWhatsApp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  communicate.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FFF64E8C-481B-D7FA-C62A-796AAF390C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6" y="-3560203"/>
            <a:ext cx="9144000" cy="2387600"/>
          </a:xfrm>
        </p:spPr>
        <p:txBody>
          <a:bodyPr/>
          <a:lstStyle/>
          <a:p>
            <a:r>
              <a:rPr lang="en-US" b="1" dirty="0">
                <a:solidFill>
                  <a:srgbClr val="D3DCE5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Project Rafeeq </a:t>
            </a:r>
            <a:br>
              <a:rPr lang="en-US" b="1" dirty="0">
                <a:solidFill>
                  <a:srgbClr val="D3DCE5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3400" b="1" dirty="0">
                <a:solidFill>
                  <a:srgbClr val="D3DCE5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First Milestone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55AE889F-AC4C-8309-6B58-5E41DF9399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6" y="-1121210"/>
            <a:ext cx="9144000" cy="1655762"/>
          </a:xfrm>
        </p:spPr>
        <p:txBody>
          <a:bodyPr>
            <a:normAutofit/>
          </a:bodyPr>
          <a:lstStyle/>
          <a:p>
            <a:r>
              <a:rPr lang="en-US" sz="2300" dirty="0">
                <a:solidFill>
                  <a:srgbClr val="D3DCE5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Browser-Based Accessibility Extension 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CAC87ED1-B040-1C68-D2AD-EF6162491B1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25098" b="77051" l="50342" r="95068">
                        <a14:foregroundMark x1="53459" y1="29968" x2="50342" y2="29736"/>
                        <a14:foregroundMark x1="54681" y1="30059" x2="54068" y2="30013"/>
                        <a14:foregroundMark x1="89063" y1="32617" x2="59236" y2="30398"/>
                        <a14:foregroundMark x1="56917" y1="34867" x2="67236" y2="42920"/>
                        <a14:foregroundMark x1="50342" y1="29736" x2="54155" y2="32711"/>
                        <a14:foregroundMark x1="67236" y1="42920" x2="87744" y2="45020"/>
                        <a14:foregroundMark x1="87744" y1="45020" x2="73389" y2="32910"/>
                        <a14:foregroundMark x1="73389" y1="32910" x2="89307" y2="37891"/>
                        <a14:foregroundMark x1="89307" y1="37891" x2="92969" y2="37891"/>
                        <a14:foregroundMark x1="83789" y1="30127" x2="68994" y2="27344"/>
                        <a14:foregroundMark x1="75000" y1="72070" x2="88721" y2="73486"/>
                        <a14:foregroundMark x1="91553" y1="74902" x2="55957" y2="74902"/>
                        <a14:foregroundMark x1="66260" y1="27734" x2="56689" y2="36572"/>
                        <a14:foregroundMark x1="59521" y1="77783" x2="67822" y2="77051"/>
                        <a14:foregroundMark x1="67822" y1="77051" x2="79102" y2="77393"/>
                        <a14:foregroundMark x1="79102" y1="77393" x2="88086" y2="77051"/>
                        <a14:foregroundMark x1="88086" y1="77051" x2="92578" y2="77051"/>
                        <a14:backgroundMark x1="59473" y1="30859" x2="52441" y2="28027"/>
                        <a14:backgroundMark x1="59131" y1="30859" x2="53857" y2="34375"/>
                        <a14:backgroundMark x1="50342" y1="33301" x2="56055" y2="82715"/>
                        <a14:backgroundMark x1="56055" y1="82715" x2="73779" y2="82861"/>
                        <a14:backgroundMark x1="73779" y1="82861" x2="93750" y2="81641"/>
                        <a14:backgroundMark x1="93750" y1="81641" x2="97168" y2="42676"/>
                        <a14:backgroundMark x1="97168" y1="42676" x2="89307" y2="22949"/>
                        <a14:backgroundMark x1="89307" y1="22949" x2="61035" y2="19434"/>
                        <a14:backgroundMark x1="61035" y1="19434" x2="53516" y2="24170"/>
                        <a14:backgroundMark x1="53516" y1="33691" x2="55176" y2="8936"/>
                        <a14:backgroundMark x1="55176" y1="8936" x2="56738" y2="26367"/>
                        <a14:backgroundMark x1="56738" y1="26367" x2="50342" y2="25928"/>
                        <a14:backgroundMark x1="54541" y1="35791" x2="49268" y2="29102"/>
                        <a14:backgroundMark x1="63721" y1="27686" x2="64265" y2="27897"/>
                        <a14:backgroundMark x1="56006" y1="28613" x2="55615" y2="3588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1395" t="18785" b="17564"/>
          <a:stretch>
            <a:fillRect/>
          </a:stretch>
        </p:blipFill>
        <p:spPr>
          <a:xfrm>
            <a:off x="7098742" y="7832828"/>
            <a:ext cx="1852422" cy="2425854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614E396A-02B6-42ED-26AB-A7D46DA2BAC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22217" b="79932" l="1709" r="46875">
                        <a14:foregroundMark x1="39014" y1="78418" x2="30615" y2="78564"/>
                        <a14:foregroundMark x1="30615" y1="78564" x2="39746" y2="78613"/>
                        <a14:foregroundMark x1="39746" y1="78613" x2="26758" y2="79932"/>
                        <a14:foregroundMark x1="26758" y1="79932" x2="12842" y2="77734"/>
                        <a14:foregroundMark x1="28906" y1="28223" x2="25928" y2="23486"/>
                        <a14:foregroundMark x1="20508" y1="28906" x2="15771" y2="22754"/>
                        <a14:foregroundMark x1="15771" y1="22754" x2="6152" y2="22217"/>
                        <a14:foregroundMark x1="6152" y1="22217" x2="5811" y2="31738"/>
                        <a14:foregroundMark x1="5811" y1="31738" x2="15283" y2="33789"/>
                        <a14:foregroundMark x1="15283" y1="33789" x2="18555" y2="25781"/>
                        <a14:foregroundMark x1="18555" y1="25781" x2="10010" y2="23389"/>
                        <a14:foregroundMark x1="10010" y1="23389" x2="16357" y2="28320"/>
                        <a14:foregroundMark x1="16357" y1="28320" x2="8203" y2="31055"/>
                        <a14:foregroundMark x1="8203" y1="31055" x2="16064" y2="29346"/>
                        <a14:foregroundMark x1="16064" y1="29346" x2="11963" y2="25928"/>
                        <a14:foregroundMark x1="1709" y1="26611" x2="2393" y2="25586"/>
                        <a14:foregroundMark x1="27002" y1="22461" x2="25586" y2="2226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6518" r="47907" b="14425"/>
          <a:stretch>
            <a:fillRect/>
          </a:stretch>
        </p:blipFill>
        <p:spPr>
          <a:xfrm>
            <a:off x="2609464" y="7734026"/>
            <a:ext cx="1978989" cy="2623458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D71BB19A-8D4B-0E39-CA99-69C7B2A9A13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7424" b="92067" l="3947" r="89944">
                        <a14:foregroundMark x1="39662" y1="21252" x2="29417" y2="10480"/>
                        <a14:foregroundMark x1="29417" y1="10480" x2="12594" y2="10699"/>
                        <a14:foregroundMark x1="12594" y1="10699" x2="20019" y2="25036"/>
                        <a14:foregroundMark x1="20019" y1="25036" x2="31955" y2="25910"/>
                        <a14:foregroundMark x1="58459" y1="10844" x2="47838" y2="9753"/>
                        <a14:foregroundMark x1="89850" y1="34352" x2="87030" y2="41776"/>
                        <a14:foregroundMark x1="9680" y1="13028" x2="24154" y2="7569"/>
                        <a14:foregroundMark x1="4041" y1="13537" x2="5075" y2="13537"/>
                        <a14:foregroundMark x1="79229" y1="89884" x2="59492" y2="95342"/>
                        <a14:foregroundMark x1="59492" y1="95342" x2="39474" y2="95924"/>
                        <a14:foregroundMark x1="39474" y1="95924" x2="20865" y2="92358"/>
                        <a14:foregroundMark x1="20865" y1="92358" x2="67575" y2="90684"/>
                        <a14:foregroundMark x1="67575" y1="90684" x2="46805" y2="90393"/>
                        <a14:foregroundMark x1="46805" y1="90393" x2="68139" y2="92067"/>
                        <a14:foregroundMark x1="68139" y1="92067" x2="24906" y2="87627"/>
                        <a14:foregroundMark x1="24906" y1="87627" x2="78947" y2="8719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8758" y="7923863"/>
            <a:ext cx="2080471" cy="2686624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B368AC1-C778-0334-BD42-67B41F9950A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9835" b="93784" l="9792" r="89911">
                        <a14:foregroundMark x1="45203" y1="46577" x2="27695" y2="38946"/>
                        <a14:foregroundMark x1="27695" y1="38946" x2="18892" y2="28403"/>
                        <a14:foregroundMark x1="18892" y1="28403" x2="34916" y2="19355"/>
                        <a14:foregroundMark x1="34916" y1="19355" x2="42730" y2="37530"/>
                        <a14:foregroundMark x1="42730" y1="37530" x2="17211" y2="32415"/>
                        <a14:foregroundMark x1="17211" y1="32415" x2="27992" y2="21164"/>
                        <a14:foregroundMark x1="27992" y1="21164" x2="34718" y2="42486"/>
                        <a14:foregroundMark x1="15848" y1="19755" x2="15668" y2="19539"/>
                        <a14:foregroundMark x1="34718" y1="42486" x2="17158" y2="21334"/>
                        <a14:foregroundMark x1="60040" y1="11487" x2="42433" y2="10936"/>
                        <a14:foregroundMark x1="42433" y1="10936" x2="62315" y2="9913"/>
                        <a14:foregroundMark x1="62315" y1="9913" x2="62512" y2="10386"/>
                        <a14:foregroundMark x1="14441" y1="90480" x2="33234" y2="92132"/>
                        <a14:foregroundMark x1="33234" y1="92132" x2="74580" y2="90716"/>
                        <a14:foregroundMark x1="74580" y1="90716" x2="84075" y2="91031"/>
                        <a14:foregroundMark x1="19782" y1="93234" x2="58655" y2="93784"/>
                        <a14:foregroundMark x1="58655" y1="93784" x2="84768" y2="93234"/>
                        <a14:foregroundMark x1="43422" y1="35956" x2="60435" y2="29032"/>
                        <a14:foregroundMark x1="60435" y1="29032" x2="41741" y2="21479"/>
                        <a14:foregroundMark x1="41741" y1="21479" x2="61523" y2="23053"/>
                        <a14:foregroundMark x1="61523" y1="23053" x2="42433" y2="18332"/>
                        <a14:foregroundMark x1="42433" y1="18332" x2="61128" y2="21007"/>
                        <a14:foregroundMark x1="61128" y1="21007" x2="61820" y2="21637"/>
                        <a14:backgroundMark x1="14837" y1="17703" x2="14441" y2="19355"/>
                        <a14:backgroundMark x1="15232" y1="19906" x2="15925" y2="2163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5849" y="8051315"/>
            <a:ext cx="2068593" cy="2600576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82CE91D7-9804-5082-1D7D-A570829BC55B}"/>
              </a:ext>
            </a:extLst>
          </p:cNvPr>
          <p:cNvSpPr txBox="1"/>
          <p:nvPr/>
        </p:nvSpPr>
        <p:spPr>
          <a:xfrm>
            <a:off x="3622327" y="7268360"/>
            <a:ext cx="519248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Some Talking About Sickness? (Soft Stuff)</a:t>
            </a:r>
          </a:p>
        </p:txBody>
      </p:sp>
    </p:spTree>
    <p:extLst>
      <p:ext uri="{BB962C8B-B14F-4D97-AF65-F5344CB8AC3E}">
        <p14:creationId xmlns:p14="http://schemas.microsoft.com/office/powerpoint/2010/main" val="11929173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91999C-9538-20AA-419C-594F4ABA5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85C4EC75-2EC6-7E4F-5BC2-FB30C48D7C61}"/>
              </a:ext>
            </a:extLst>
          </p:cNvPr>
          <p:cNvSpPr txBox="1"/>
          <p:nvPr/>
        </p:nvSpPr>
        <p:spPr>
          <a:xfrm>
            <a:off x="9346131" y="1693869"/>
            <a:ext cx="132186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>
                <a:solidFill>
                  <a:srgbClr val="CBD8E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Deaf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BC3351B-FA63-30C4-65B1-94711704C6C3}"/>
              </a:ext>
            </a:extLst>
          </p:cNvPr>
          <p:cNvSpPr txBox="1"/>
          <p:nvPr/>
        </p:nvSpPr>
        <p:spPr>
          <a:xfrm>
            <a:off x="5629175" y="1693869"/>
            <a:ext cx="132186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>
                <a:solidFill>
                  <a:srgbClr val="CBD8E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Mute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C89625F-A2EC-A583-8084-AAC22A9EE401}"/>
              </a:ext>
            </a:extLst>
          </p:cNvPr>
          <p:cNvSpPr txBox="1"/>
          <p:nvPr/>
        </p:nvSpPr>
        <p:spPr>
          <a:xfrm>
            <a:off x="1451810" y="1688452"/>
            <a:ext cx="156301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>
                <a:solidFill>
                  <a:srgbClr val="CBD8E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Dyslexia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5709A55-D42C-D9F7-274D-4DA26A7CFB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4802"/>
            <a:ext cx="12191999" cy="6967603"/>
          </a:xfrm>
          <a:prstGeom prst="rect">
            <a:avLst/>
          </a:prstGeom>
        </p:spPr>
      </p:pic>
      <p:pic>
        <p:nvPicPr>
          <p:cNvPr id="8" name="Picture 7" descr="مبادرة رواد مصر الرقمية">
            <a:extLst>
              <a:ext uri="{FF2B5EF4-FFF2-40B4-BE49-F238E27FC236}">
                <a16:creationId xmlns:a16="http://schemas.microsoft.com/office/drawing/2014/main" id="{338BC080-5A31-6F7E-04FB-DF8D7F33E2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5906" y="0"/>
            <a:ext cx="1014592" cy="932770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CAB1038C-E280-F1CB-B279-D41F7B1A98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6" y="-3560203"/>
            <a:ext cx="9144000" cy="2387600"/>
          </a:xfrm>
        </p:spPr>
        <p:txBody>
          <a:bodyPr/>
          <a:lstStyle/>
          <a:p>
            <a:r>
              <a:rPr lang="en-US" b="1" dirty="0">
                <a:solidFill>
                  <a:srgbClr val="D3DCE5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Project Rafeeq </a:t>
            </a:r>
            <a:br>
              <a:rPr lang="en-US" b="1" dirty="0">
                <a:solidFill>
                  <a:srgbClr val="D3DCE5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3400" b="1" dirty="0">
                <a:solidFill>
                  <a:srgbClr val="D3DCE5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First Milestone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155D544B-1184-04A3-E1A8-3053FBA485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6" y="-1121210"/>
            <a:ext cx="9144000" cy="1655762"/>
          </a:xfrm>
        </p:spPr>
        <p:txBody>
          <a:bodyPr>
            <a:normAutofit/>
          </a:bodyPr>
          <a:lstStyle/>
          <a:p>
            <a:r>
              <a:rPr lang="en-US" sz="2300" dirty="0">
                <a:solidFill>
                  <a:srgbClr val="D3DCE5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Browser-Based Accessibility Extension 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4B212954-1FB2-7EF3-B10B-C06C763717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25098" b="77051" l="50342" r="95068">
                        <a14:foregroundMark x1="53459" y1="29968" x2="50342" y2="29736"/>
                        <a14:foregroundMark x1="54681" y1="30059" x2="54068" y2="30013"/>
                        <a14:foregroundMark x1="89063" y1="32617" x2="59236" y2="30398"/>
                        <a14:foregroundMark x1="56917" y1="34867" x2="67236" y2="42920"/>
                        <a14:foregroundMark x1="50342" y1="29736" x2="54155" y2="32711"/>
                        <a14:foregroundMark x1="67236" y1="42920" x2="87744" y2="45020"/>
                        <a14:foregroundMark x1="87744" y1="45020" x2="73389" y2="32910"/>
                        <a14:foregroundMark x1="73389" y1="32910" x2="89307" y2="37891"/>
                        <a14:foregroundMark x1="89307" y1="37891" x2="92969" y2="37891"/>
                        <a14:foregroundMark x1="83789" y1="30127" x2="68994" y2="27344"/>
                        <a14:foregroundMark x1="75000" y1="72070" x2="88721" y2="73486"/>
                        <a14:foregroundMark x1="91553" y1="74902" x2="55957" y2="74902"/>
                        <a14:foregroundMark x1="66260" y1="27734" x2="56689" y2="36572"/>
                        <a14:foregroundMark x1="59521" y1="77783" x2="67822" y2="77051"/>
                        <a14:foregroundMark x1="67822" y1="77051" x2="79102" y2="77393"/>
                        <a14:foregroundMark x1="79102" y1="77393" x2="88086" y2="77051"/>
                        <a14:foregroundMark x1="88086" y1="77051" x2="92578" y2="77051"/>
                        <a14:backgroundMark x1="59473" y1="30859" x2="52441" y2="28027"/>
                        <a14:backgroundMark x1="59131" y1="30859" x2="53857" y2="34375"/>
                        <a14:backgroundMark x1="50342" y1="33301" x2="56055" y2="82715"/>
                        <a14:backgroundMark x1="56055" y1="82715" x2="73779" y2="82861"/>
                        <a14:backgroundMark x1="73779" y1="82861" x2="93750" y2="81641"/>
                        <a14:backgroundMark x1="93750" y1="81641" x2="97168" y2="42676"/>
                        <a14:backgroundMark x1="97168" y1="42676" x2="89307" y2="22949"/>
                        <a14:backgroundMark x1="89307" y1="22949" x2="61035" y2="19434"/>
                        <a14:backgroundMark x1="61035" y1="19434" x2="53516" y2="24170"/>
                        <a14:backgroundMark x1="53516" y1="33691" x2="55176" y2="8936"/>
                        <a14:backgroundMark x1="55176" y1="8936" x2="56738" y2="26367"/>
                        <a14:backgroundMark x1="56738" y1="26367" x2="50342" y2="25928"/>
                        <a14:backgroundMark x1="54541" y1="35791" x2="49268" y2="29102"/>
                        <a14:backgroundMark x1="63721" y1="27686" x2="64265" y2="27897"/>
                        <a14:backgroundMark x1="56006" y1="28613" x2="55615" y2="3588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1395" t="18785" b="17564"/>
          <a:stretch>
            <a:fillRect/>
          </a:stretch>
        </p:blipFill>
        <p:spPr>
          <a:xfrm>
            <a:off x="7098742" y="7832828"/>
            <a:ext cx="1852422" cy="2425854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D6D1974D-778B-32D9-1978-7D80C55EB16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22217" b="79932" l="1709" r="46875">
                        <a14:foregroundMark x1="39014" y1="78418" x2="30615" y2="78564"/>
                        <a14:foregroundMark x1="30615" y1="78564" x2="39746" y2="78613"/>
                        <a14:foregroundMark x1="39746" y1="78613" x2="26758" y2="79932"/>
                        <a14:foregroundMark x1="26758" y1="79932" x2="12842" y2="77734"/>
                        <a14:foregroundMark x1="28906" y1="28223" x2="25928" y2="23486"/>
                        <a14:foregroundMark x1="20508" y1="28906" x2="15771" y2="22754"/>
                        <a14:foregroundMark x1="15771" y1="22754" x2="6152" y2="22217"/>
                        <a14:foregroundMark x1="6152" y1="22217" x2="5811" y2="31738"/>
                        <a14:foregroundMark x1="5811" y1="31738" x2="15283" y2="33789"/>
                        <a14:foregroundMark x1="15283" y1="33789" x2="18555" y2="25781"/>
                        <a14:foregroundMark x1="18555" y1="25781" x2="10010" y2="23389"/>
                        <a14:foregroundMark x1="10010" y1="23389" x2="16357" y2="28320"/>
                        <a14:foregroundMark x1="16357" y1="28320" x2="8203" y2="31055"/>
                        <a14:foregroundMark x1="8203" y1="31055" x2="16064" y2="29346"/>
                        <a14:foregroundMark x1="16064" y1="29346" x2="11963" y2="25928"/>
                        <a14:foregroundMark x1="1709" y1="26611" x2="2393" y2="25586"/>
                        <a14:foregroundMark x1="27002" y1="22461" x2="25586" y2="2226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6518" r="47907" b="14425"/>
          <a:stretch>
            <a:fillRect/>
          </a:stretch>
        </p:blipFill>
        <p:spPr>
          <a:xfrm>
            <a:off x="2609464" y="7734026"/>
            <a:ext cx="1978989" cy="2623458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A33B4B8D-4A1E-5D81-522A-BEC3F5D84DA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7424" b="92067" l="3947" r="89944">
                        <a14:foregroundMark x1="39662" y1="21252" x2="29417" y2="10480"/>
                        <a14:foregroundMark x1="29417" y1="10480" x2="12594" y2="10699"/>
                        <a14:foregroundMark x1="12594" y1="10699" x2="20019" y2="25036"/>
                        <a14:foregroundMark x1="20019" y1="25036" x2="31955" y2="25910"/>
                        <a14:foregroundMark x1="58459" y1="10844" x2="47838" y2="9753"/>
                        <a14:foregroundMark x1="89850" y1="34352" x2="87030" y2="41776"/>
                        <a14:foregroundMark x1="9680" y1="13028" x2="24154" y2="7569"/>
                        <a14:foregroundMark x1="4041" y1="13537" x2="5075" y2="13537"/>
                        <a14:foregroundMark x1="79229" y1="89884" x2="59492" y2="95342"/>
                        <a14:foregroundMark x1="59492" y1="95342" x2="39474" y2="95924"/>
                        <a14:foregroundMark x1="39474" y1="95924" x2="20865" y2="92358"/>
                        <a14:foregroundMark x1="20865" y1="92358" x2="67575" y2="90684"/>
                        <a14:foregroundMark x1="67575" y1="90684" x2="46805" y2="90393"/>
                        <a14:foregroundMark x1="46805" y1="90393" x2="68139" y2="92067"/>
                        <a14:foregroundMark x1="68139" y1="92067" x2="24906" y2="87627"/>
                        <a14:foregroundMark x1="24906" y1="87627" x2="78947" y2="8719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8758" y="7923863"/>
            <a:ext cx="2080471" cy="2686624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D3DA71FF-BBE5-3F60-1B01-45058D12C0E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9835" b="93784" l="9792" r="89911">
                        <a14:foregroundMark x1="45203" y1="46577" x2="27695" y2="38946"/>
                        <a14:foregroundMark x1="27695" y1="38946" x2="18892" y2="28403"/>
                        <a14:foregroundMark x1="18892" y1="28403" x2="34916" y2="19355"/>
                        <a14:foregroundMark x1="34916" y1="19355" x2="42730" y2="37530"/>
                        <a14:foregroundMark x1="42730" y1="37530" x2="17211" y2="32415"/>
                        <a14:foregroundMark x1="17211" y1="32415" x2="27992" y2="21164"/>
                        <a14:foregroundMark x1="27992" y1="21164" x2="34718" y2="42486"/>
                        <a14:foregroundMark x1="15848" y1="19755" x2="15668" y2="19539"/>
                        <a14:foregroundMark x1="34718" y1="42486" x2="17158" y2="21334"/>
                        <a14:foregroundMark x1="60040" y1="11487" x2="42433" y2="10936"/>
                        <a14:foregroundMark x1="42433" y1="10936" x2="62315" y2="9913"/>
                        <a14:foregroundMark x1="62315" y1="9913" x2="62512" y2="10386"/>
                        <a14:foregroundMark x1="14441" y1="90480" x2="33234" y2="92132"/>
                        <a14:foregroundMark x1="33234" y1="92132" x2="74580" y2="90716"/>
                        <a14:foregroundMark x1="74580" y1="90716" x2="84075" y2="91031"/>
                        <a14:foregroundMark x1="19782" y1="93234" x2="58655" y2="93784"/>
                        <a14:foregroundMark x1="58655" y1="93784" x2="84768" y2="93234"/>
                        <a14:foregroundMark x1="43422" y1="35956" x2="60435" y2="29032"/>
                        <a14:foregroundMark x1="60435" y1="29032" x2="41741" y2="21479"/>
                        <a14:foregroundMark x1="41741" y1="21479" x2="61523" y2="23053"/>
                        <a14:foregroundMark x1="61523" y1="23053" x2="42433" y2="18332"/>
                        <a14:foregroundMark x1="42433" y1="18332" x2="61128" y2="21007"/>
                        <a14:foregroundMark x1="61128" y1="21007" x2="61820" y2="21637"/>
                        <a14:backgroundMark x1="14837" y1="17703" x2="14441" y2="19355"/>
                        <a14:backgroundMark x1="15232" y1="19906" x2="15925" y2="2163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5849" y="8051315"/>
            <a:ext cx="2068593" cy="260057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6775EEE-B718-14FA-7AFC-5AFF912DBFB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8327" y="2165506"/>
            <a:ext cx="2089751" cy="2089751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4630C60-A0AA-10D6-404E-165BECBE46C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10000" b="90000" l="8383" r="75443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16175"/>
          <a:stretch>
            <a:fillRect/>
          </a:stretch>
        </p:blipFill>
        <p:spPr>
          <a:xfrm>
            <a:off x="4939867" y="2165506"/>
            <a:ext cx="2089751" cy="2089752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969D6A7-934D-90B7-22CC-4372FCCBDA38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812"/>
          <a:stretch>
            <a:fillRect/>
          </a:stretch>
        </p:blipFill>
        <p:spPr>
          <a:xfrm>
            <a:off x="8677192" y="2165507"/>
            <a:ext cx="2067323" cy="2089751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0A85852-79F7-8638-A330-E12381C77027}"/>
              </a:ext>
            </a:extLst>
          </p:cNvPr>
          <p:cNvSpPr txBox="1"/>
          <p:nvPr/>
        </p:nvSpPr>
        <p:spPr>
          <a:xfrm>
            <a:off x="467136" y="-5783811"/>
            <a:ext cx="9995343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rgbClr val="D6DFE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What is Rafeeq?</a:t>
            </a:r>
          </a:p>
          <a:p>
            <a:r>
              <a:rPr lang="en-US" sz="3000" dirty="0">
                <a:solidFill>
                  <a:srgbClr val="D6DFE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An adaptive, multi-modal digital ecosystem that bridges communication gaps for people with diverse disabilities: </a:t>
            </a:r>
            <a:r>
              <a:rPr lang="en-US" sz="3000" b="1" dirty="0">
                <a:solidFill>
                  <a:srgbClr val="D6DFE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Deaf/Mute, Blind, Dyslexic users. </a:t>
            </a:r>
          </a:p>
          <a:p>
            <a:endParaRPr lang="en-US" sz="3000" dirty="0">
              <a:solidFill>
                <a:srgbClr val="D6DFE8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3000" b="1" dirty="0">
                <a:solidFill>
                  <a:srgbClr val="D6DFE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What makes it different?</a:t>
            </a:r>
          </a:p>
          <a:p>
            <a:r>
              <a:rPr lang="en-US" sz="3000" dirty="0">
                <a:solidFill>
                  <a:srgbClr val="D6DFE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Rather than a standalone mobile app, Rafeeq is architected as a </a:t>
            </a:r>
            <a:r>
              <a:rPr lang="en-US" sz="3000" b="1" dirty="0">
                <a:solidFill>
                  <a:srgbClr val="D6DFE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lightweight browser extension </a:t>
            </a:r>
            <a:r>
              <a:rPr lang="en-US" sz="3000" dirty="0">
                <a:solidFill>
                  <a:srgbClr val="D6DFE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that injects assistive UI overlays and real-time processing directly into mainstream web communication platforms such as Web and Facebook. meeting users where they </a:t>
            </a:r>
            <a:r>
              <a:rPr lang="en-US" sz="3000" dirty="0" err="1">
                <a:solidFill>
                  <a:srgbClr val="D6DFE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alreadyWhatsApp</a:t>
            </a:r>
            <a:r>
              <a:rPr lang="en-US" sz="3000" dirty="0">
                <a:solidFill>
                  <a:srgbClr val="D6DFE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communicate.</a:t>
            </a:r>
          </a:p>
        </p:txBody>
      </p:sp>
    </p:spTree>
    <p:extLst>
      <p:ext uri="{BB962C8B-B14F-4D97-AF65-F5344CB8AC3E}">
        <p14:creationId xmlns:p14="http://schemas.microsoft.com/office/powerpoint/2010/main" val="5835955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BC87D1-C6B0-A6BA-EA6B-D9DD0EC33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Box 39">
            <a:extLst>
              <a:ext uri="{FF2B5EF4-FFF2-40B4-BE49-F238E27FC236}">
                <a16:creationId xmlns:a16="http://schemas.microsoft.com/office/drawing/2014/main" id="{630020FA-206B-F470-3363-FE29E8FCDB0A}"/>
              </a:ext>
            </a:extLst>
          </p:cNvPr>
          <p:cNvSpPr txBox="1"/>
          <p:nvPr/>
        </p:nvSpPr>
        <p:spPr>
          <a:xfrm>
            <a:off x="1441386" y="1550606"/>
            <a:ext cx="91776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CBD8E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language-based learning disorder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74BB593-FBEC-1E29-48E9-5FA3DB696A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4802"/>
            <a:ext cx="12191999" cy="6967603"/>
          </a:xfrm>
          <a:prstGeom prst="rect">
            <a:avLst/>
          </a:prstGeom>
        </p:spPr>
      </p:pic>
      <p:pic>
        <p:nvPicPr>
          <p:cNvPr id="8" name="Picture 7" descr="مبادرة رواد مصر الرقمية">
            <a:extLst>
              <a:ext uri="{FF2B5EF4-FFF2-40B4-BE49-F238E27FC236}">
                <a16:creationId xmlns:a16="http://schemas.microsoft.com/office/drawing/2014/main" id="{04715C85-6A51-1CA5-9090-4A288FE930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5906" y="0"/>
            <a:ext cx="1014592" cy="93277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11935B8-C16F-7934-6437-24690743754B}"/>
              </a:ext>
            </a:extLst>
          </p:cNvPr>
          <p:cNvSpPr txBox="1"/>
          <p:nvPr/>
        </p:nvSpPr>
        <p:spPr>
          <a:xfrm>
            <a:off x="1098327" y="-6088669"/>
            <a:ext cx="9995343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000" dirty="0">
                <a:solidFill>
                  <a:srgbClr val="D3DCE5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An adaptive, multi-modal digital ecosystem that bridges communication gaps for people with diverse disabilities: Deaf/Mute, Blind, Dyslexic users. Rather than a standalone mobile app, Rafeeq is architected as a lightweight browser extension that injects assistive UI overlays and real-time processing directly into mainstream web communication platforms such as WhatsApp Web and Facebook. meeting users where they already communicate.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6BAC582-8C97-1287-3D48-90E8043047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6" y="-3560203"/>
            <a:ext cx="9144000" cy="2387600"/>
          </a:xfrm>
        </p:spPr>
        <p:txBody>
          <a:bodyPr/>
          <a:lstStyle/>
          <a:p>
            <a:r>
              <a:rPr lang="en-US" b="1" dirty="0">
                <a:solidFill>
                  <a:srgbClr val="D3DCE5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Project Rafeeq </a:t>
            </a:r>
            <a:br>
              <a:rPr lang="en-US" b="1" dirty="0">
                <a:solidFill>
                  <a:srgbClr val="D3DCE5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3400" b="1" dirty="0">
                <a:solidFill>
                  <a:srgbClr val="D3DCE5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First Milestone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10B30B68-145C-E314-DC52-8A8AEC0276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6" y="-1121210"/>
            <a:ext cx="9144000" cy="1655762"/>
          </a:xfrm>
        </p:spPr>
        <p:txBody>
          <a:bodyPr>
            <a:normAutofit/>
          </a:bodyPr>
          <a:lstStyle/>
          <a:p>
            <a:r>
              <a:rPr lang="en-US" sz="2300" dirty="0">
                <a:solidFill>
                  <a:srgbClr val="D3DCE5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Browser-Based Accessibility Extension 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34CE8510-32F2-5ECE-7A56-67FCF9FEC7E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25098" b="77051" l="50342" r="95068">
                        <a14:foregroundMark x1="53459" y1="29968" x2="50342" y2="29736"/>
                        <a14:foregroundMark x1="54681" y1="30059" x2="54068" y2="30013"/>
                        <a14:foregroundMark x1="89063" y1="32617" x2="59236" y2="30398"/>
                        <a14:foregroundMark x1="56917" y1="34867" x2="67236" y2="42920"/>
                        <a14:foregroundMark x1="50342" y1="29736" x2="54155" y2="32711"/>
                        <a14:foregroundMark x1="67236" y1="42920" x2="87744" y2="45020"/>
                        <a14:foregroundMark x1="87744" y1="45020" x2="73389" y2="32910"/>
                        <a14:foregroundMark x1="73389" y1="32910" x2="89307" y2="37891"/>
                        <a14:foregroundMark x1="89307" y1="37891" x2="92969" y2="37891"/>
                        <a14:foregroundMark x1="83789" y1="30127" x2="68994" y2="27344"/>
                        <a14:foregroundMark x1="75000" y1="72070" x2="88721" y2="73486"/>
                        <a14:foregroundMark x1="91553" y1="74902" x2="55957" y2="74902"/>
                        <a14:foregroundMark x1="66260" y1="27734" x2="56689" y2="36572"/>
                        <a14:foregroundMark x1="59521" y1="77783" x2="67822" y2="77051"/>
                        <a14:foregroundMark x1="67822" y1="77051" x2="79102" y2="77393"/>
                        <a14:foregroundMark x1="79102" y1="77393" x2="88086" y2="77051"/>
                        <a14:foregroundMark x1="88086" y1="77051" x2="92578" y2="77051"/>
                        <a14:backgroundMark x1="59473" y1="30859" x2="52441" y2="28027"/>
                        <a14:backgroundMark x1="59131" y1="30859" x2="53857" y2="34375"/>
                        <a14:backgroundMark x1="50342" y1="33301" x2="56055" y2="82715"/>
                        <a14:backgroundMark x1="56055" y1="82715" x2="73779" y2="82861"/>
                        <a14:backgroundMark x1="73779" y1="82861" x2="93750" y2="81641"/>
                        <a14:backgroundMark x1="93750" y1="81641" x2="97168" y2="42676"/>
                        <a14:backgroundMark x1="97168" y1="42676" x2="89307" y2="22949"/>
                        <a14:backgroundMark x1="89307" y1="22949" x2="61035" y2="19434"/>
                        <a14:backgroundMark x1="61035" y1="19434" x2="53516" y2="24170"/>
                        <a14:backgroundMark x1="53516" y1="33691" x2="55176" y2="8936"/>
                        <a14:backgroundMark x1="55176" y1="8936" x2="56738" y2="26367"/>
                        <a14:backgroundMark x1="56738" y1="26367" x2="50342" y2="25928"/>
                        <a14:backgroundMark x1="54541" y1="35791" x2="49268" y2="29102"/>
                        <a14:backgroundMark x1="63721" y1="27686" x2="64265" y2="27897"/>
                        <a14:backgroundMark x1="56006" y1="28613" x2="55615" y2="3588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1395" t="18785" b="17564"/>
          <a:stretch>
            <a:fillRect/>
          </a:stretch>
        </p:blipFill>
        <p:spPr>
          <a:xfrm>
            <a:off x="7098742" y="7832828"/>
            <a:ext cx="1852422" cy="2425854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DA27926-D5B1-E88E-3E62-81A767954DF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22217" b="79932" l="1709" r="46875">
                        <a14:foregroundMark x1="39014" y1="78418" x2="30615" y2="78564"/>
                        <a14:foregroundMark x1="30615" y1="78564" x2="39746" y2="78613"/>
                        <a14:foregroundMark x1="39746" y1="78613" x2="26758" y2="79932"/>
                        <a14:foregroundMark x1="26758" y1="79932" x2="12842" y2="77734"/>
                        <a14:foregroundMark x1="28906" y1="28223" x2="25928" y2="23486"/>
                        <a14:foregroundMark x1="20508" y1="28906" x2="15771" y2="22754"/>
                        <a14:foregroundMark x1="15771" y1="22754" x2="6152" y2="22217"/>
                        <a14:foregroundMark x1="6152" y1="22217" x2="5811" y2="31738"/>
                        <a14:foregroundMark x1="5811" y1="31738" x2="15283" y2="33789"/>
                        <a14:foregroundMark x1="15283" y1="33789" x2="18555" y2="25781"/>
                        <a14:foregroundMark x1="18555" y1="25781" x2="10010" y2="23389"/>
                        <a14:foregroundMark x1="10010" y1="23389" x2="16357" y2="28320"/>
                        <a14:foregroundMark x1="16357" y1="28320" x2="8203" y2="31055"/>
                        <a14:foregroundMark x1="8203" y1="31055" x2="16064" y2="29346"/>
                        <a14:foregroundMark x1="16064" y1="29346" x2="11963" y2="25928"/>
                        <a14:foregroundMark x1="1709" y1="26611" x2="2393" y2="25586"/>
                        <a14:foregroundMark x1="27002" y1="22461" x2="25586" y2="2226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6518" r="47907" b="14425"/>
          <a:stretch>
            <a:fillRect/>
          </a:stretch>
        </p:blipFill>
        <p:spPr>
          <a:xfrm>
            <a:off x="2609464" y="7734026"/>
            <a:ext cx="1978989" cy="2623458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6C0BF55D-974E-00E4-EFFB-01A03A26CDF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7424" b="92067" l="3947" r="89944">
                        <a14:foregroundMark x1="39662" y1="21252" x2="29417" y2="10480"/>
                        <a14:foregroundMark x1="29417" y1="10480" x2="12594" y2="10699"/>
                        <a14:foregroundMark x1="12594" y1="10699" x2="20019" y2="25036"/>
                        <a14:foregroundMark x1="20019" y1="25036" x2="31955" y2="25910"/>
                        <a14:foregroundMark x1="58459" y1="10844" x2="47838" y2="9753"/>
                        <a14:foregroundMark x1="89850" y1="34352" x2="87030" y2="41776"/>
                        <a14:foregroundMark x1="9680" y1="13028" x2="24154" y2="7569"/>
                        <a14:foregroundMark x1="4041" y1="13537" x2="5075" y2="13537"/>
                        <a14:foregroundMark x1="79229" y1="89884" x2="59492" y2="95342"/>
                        <a14:foregroundMark x1="59492" y1="95342" x2="39474" y2="95924"/>
                        <a14:foregroundMark x1="39474" y1="95924" x2="20865" y2="92358"/>
                        <a14:foregroundMark x1="20865" y1="92358" x2="67575" y2="90684"/>
                        <a14:foregroundMark x1="67575" y1="90684" x2="46805" y2="90393"/>
                        <a14:foregroundMark x1="46805" y1="90393" x2="68139" y2="92067"/>
                        <a14:foregroundMark x1="68139" y1="92067" x2="24906" y2="87627"/>
                        <a14:foregroundMark x1="24906" y1="87627" x2="78947" y2="8719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8758" y="7923863"/>
            <a:ext cx="2080471" cy="2686624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81AFFA0D-E13F-3AE5-943C-8CC9D5D79BE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9835" b="93784" l="9792" r="89911">
                        <a14:foregroundMark x1="45203" y1="46577" x2="27695" y2="38946"/>
                        <a14:foregroundMark x1="27695" y1="38946" x2="18892" y2="28403"/>
                        <a14:foregroundMark x1="18892" y1="28403" x2="34916" y2="19355"/>
                        <a14:foregroundMark x1="34916" y1="19355" x2="42730" y2="37530"/>
                        <a14:foregroundMark x1="42730" y1="37530" x2="17211" y2="32415"/>
                        <a14:foregroundMark x1="17211" y1="32415" x2="27992" y2="21164"/>
                        <a14:foregroundMark x1="27992" y1="21164" x2="34718" y2="42486"/>
                        <a14:foregroundMark x1="15848" y1="19755" x2="15668" y2="19539"/>
                        <a14:foregroundMark x1="34718" y1="42486" x2="17158" y2="21334"/>
                        <a14:foregroundMark x1="60040" y1="11487" x2="42433" y2="10936"/>
                        <a14:foregroundMark x1="42433" y1="10936" x2="62315" y2="9913"/>
                        <a14:foregroundMark x1="62315" y1="9913" x2="62512" y2="10386"/>
                        <a14:foregroundMark x1="14441" y1="90480" x2="33234" y2="92132"/>
                        <a14:foregroundMark x1="33234" y1="92132" x2="74580" y2="90716"/>
                        <a14:foregroundMark x1="74580" y1="90716" x2="84075" y2="91031"/>
                        <a14:foregroundMark x1="19782" y1="93234" x2="58655" y2="93784"/>
                        <a14:foregroundMark x1="58655" y1="93784" x2="84768" y2="93234"/>
                        <a14:foregroundMark x1="43422" y1="35956" x2="60435" y2="29032"/>
                        <a14:foregroundMark x1="60435" y1="29032" x2="41741" y2="21479"/>
                        <a14:foregroundMark x1="41741" y1="21479" x2="61523" y2="23053"/>
                        <a14:foregroundMark x1="61523" y1="23053" x2="42433" y2="18332"/>
                        <a14:foregroundMark x1="42433" y1="18332" x2="61128" y2="21007"/>
                        <a14:foregroundMark x1="61128" y1="21007" x2="61820" y2="21637"/>
                        <a14:backgroundMark x1="14837" y1="17703" x2="14441" y2="19355"/>
                        <a14:backgroundMark x1="15232" y1="19906" x2="15925" y2="2163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5849" y="8051315"/>
            <a:ext cx="2068593" cy="260057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21F0716-9641-58CD-3421-81C038D6ABB5}"/>
              </a:ext>
            </a:extLst>
          </p:cNvPr>
          <p:cNvSpPr txBox="1"/>
          <p:nvPr/>
        </p:nvSpPr>
        <p:spPr>
          <a:xfrm>
            <a:off x="9346131" y="4790171"/>
            <a:ext cx="132186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>
                <a:latin typeface="Cambria" panose="02040503050406030204" pitchFamily="18" charset="0"/>
                <a:ea typeface="Cambria" panose="02040503050406030204" pitchFamily="18" charset="0"/>
              </a:rPr>
              <a:t>Deaf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21A075-5F7E-CC95-A04A-A2825B079627}"/>
              </a:ext>
            </a:extLst>
          </p:cNvPr>
          <p:cNvSpPr txBox="1"/>
          <p:nvPr/>
        </p:nvSpPr>
        <p:spPr>
          <a:xfrm>
            <a:off x="5629175" y="4790171"/>
            <a:ext cx="132186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>
                <a:latin typeface="Cambria" panose="02040503050406030204" pitchFamily="18" charset="0"/>
                <a:ea typeface="Cambria" panose="02040503050406030204" pitchFamily="18" charset="0"/>
              </a:rPr>
              <a:t>Mute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707EB2C-4388-54CF-2FB1-DB6AEBE65134}"/>
              </a:ext>
            </a:extLst>
          </p:cNvPr>
          <p:cNvSpPr txBox="1"/>
          <p:nvPr/>
        </p:nvSpPr>
        <p:spPr>
          <a:xfrm>
            <a:off x="1451810" y="4784754"/>
            <a:ext cx="156301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>
                <a:latin typeface="Cambria" panose="02040503050406030204" pitchFamily="18" charset="0"/>
                <a:ea typeface="Cambria" panose="02040503050406030204" pitchFamily="18" charset="0"/>
              </a:rPr>
              <a:t>Dyslexia 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05A0E1E4-54E0-6BC8-9F55-8D8CB0804EF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8327" y="1896001"/>
            <a:ext cx="2089751" cy="2089751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FE95501D-F2EA-8AA3-D26A-3B6CA2B7C43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10000" b="90000" l="8383" r="75443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16175"/>
          <a:stretch>
            <a:fillRect/>
          </a:stretch>
        </p:blipFill>
        <p:spPr>
          <a:xfrm>
            <a:off x="4939867" y="1896001"/>
            <a:ext cx="2089751" cy="2089752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28B88FA2-1013-ED52-B6FA-464E5E9E7B41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812"/>
          <a:stretch>
            <a:fillRect/>
          </a:stretch>
        </p:blipFill>
        <p:spPr>
          <a:xfrm>
            <a:off x="8677192" y="1896002"/>
            <a:ext cx="2067323" cy="2089751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2155132C-5D71-DD11-66B1-AFCEAC489DC6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3122690" y="466385"/>
            <a:ext cx="3737013" cy="192272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8C8A9E46-A418-2ACF-9400-A24CAA5804D9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9173" y="-4888908"/>
            <a:ext cx="2035279" cy="398575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73E8BDC7-9289-4CD2-A9E9-0287B61839E5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5136"/>
          <a:stretch>
            <a:fillRect/>
          </a:stretch>
        </p:blipFill>
        <p:spPr>
          <a:xfrm>
            <a:off x="7457788" y="7778064"/>
            <a:ext cx="2009623" cy="258532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AA846360-2719-EDC8-35DA-7DFCD8BA854B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 t="24102"/>
          <a:stretch>
            <a:fillRect/>
          </a:stretch>
        </p:blipFill>
        <p:spPr>
          <a:xfrm>
            <a:off x="7616546" y="10581875"/>
            <a:ext cx="1600282" cy="126276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102180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A5250F-A6DF-7E90-F67E-460625C2C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Box 33">
            <a:extLst>
              <a:ext uri="{FF2B5EF4-FFF2-40B4-BE49-F238E27FC236}">
                <a16:creationId xmlns:a16="http://schemas.microsoft.com/office/drawing/2014/main" id="{D0F28027-E331-C7B7-4695-0D3A2BCD8217}"/>
              </a:ext>
            </a:extLst>
          </p:cNvPr>
          <p:cNvSpPr txBox="1"/>
          <p:nvPr/>
        </p:nvSpPr>
        <p:spPr>
          <a:xfrm>
            <a:off x="1099178" y="2558674"/>
            <a:ext cx="599956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CBD8E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Inability to produce spoken voice communication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4465464-ABC2-1C51-A654-E971049A95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4802"/>
            <a:ext cx="12191999" cy="6967603"/>
          </a:xfrm>
          <a:prstGeom prst="rect">
            <a:avLst/>
          </a:prstGeom>
        </p:spPr>
      </p:pic>
      <p:pic>
        <p:nvPicPr>
          <p:cNvPr id="8" name="Picture 7" descr="مبادرة رواد مصر الرقمية">
            <a:extLst>
              <a:ext uri="{FF2B5EF4-FFF2-40B4-BE49-F238E27FC236}">
                <a16:creationId xmlns:a16="http://schemas.microsoft.com/office/drawing/2014/main" id="{582085DF-BDC6-7577-FFBF-08B47DB0DB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05906" y="0"/>
            <a:ext cx="1014592" cy="93277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43438E0-710A-C1B3-F981-1DD13B4C3313}"/>
              </a:ext>
            </a:extLst>
          </p:cNvPr>
          <p:cNvSpPr txBox="1"/>
          <p:nvPr/>
        </p:nvSpPr>
        <p:spPr>
          <a:xfrm>
            <a:off x="1098327" y="-6088669"/>
            <a:ext cx="9995343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000" dirty="0">
                <a:solidFill>
                  <a:srgbClr val="D3DCE5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An adaptive, multi-modal digital ecosystem that bridges communication gaps for people with diverse disabilities: Deaf/Mute, Blind, Dyslexic users. Rather than a standalone mobile app, Rafeeq is architected as a lightweight browser extension that injects assistive UI overlays and real-time processing directly into mainstream web communication platforms such as WhatsApp Web and Facebook. meeting users where they already communicate.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9BA388BB-A7F8-C997-4819-44047C4175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6" y="-3560203"/>
            <a:ext cx="9144000" cy="2387600"/>
          </a:xfrm>
        </p:spPr>
        <p:txBody>
          <a:bodyPr/>
          <a:lstStyle/>
          <a:p>
            <a:r>
              <a:rPr lang="en-US" b="1" dirty="0">
                <a:solidFill>
                  <a:srgbClr val="D3DCE5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Project Rafeeq </a:t>
            </a:r>
            <a:br>
              <a:rPr lang="en-US" b="1" dirty="0">
                <a:solidFill>
                  <a:srgbClr val="D3DCE5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3400" b="1" dirty="0">
                <a:solidFill>
                  <a:srgbClr val="D3DCE5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First Milestone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20A563A0-4947-250E-D9F5-C638BBFF79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6" y="-1121210"/>
            <a:ext cx="9144000" cy="1655762"/>
          </a:xfrm>
        </p:spPr>
        <p:txBody>
          <a:bodyPr>
            <a:normAutofit/>
          </a:bodyPr>
          <a:lstStyle/>
          <a:p>
            <a:r>
              <a:rPr lang="en-US" sz="2300" dirty="0">
                <a:solidFill>
                  <a:srgbClr val="D3DCE5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Browser-Based Accessibility Extension 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437CBF6F-58C2-79E8-69E5-3C2550232E3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25098" b="77051" l="50342" r="95068">
                        <a14:foregroundMark x1="53459" y1="29968" x2="50342" y2="29736"/>
                        <a14:foregroundMark x1="54681" y1="30059" x2="54068" y2="30013"/>
                        <a14:foregroundMark x1="89063" y1="32617" x2="59236" y2="30398"/>
                        <a14:foregroundMark x1="56917" y1="34867" x2="67236" y2="42920"/>
                        <a14:foregroundMark x1="50342" y1="29736" x2="54155" y2="32711"/>
                        <a14:foregroundMark x1="67236" y1="42920" x2="87744" y2="45020"/>
                        <a14:foregroundMark x1="87744" y1="45020" x2="73389" y2="32910"/>
                        <a14:foregroundMark x1="73389" y1="32910" x2="89307" y2="37891"/>
                        <a14:foregroundMark x1="89307" y1="37891" x2="92969" y2="37891"/>
                        <a14:foregroundMark x1="83789" y1="30127" x2="68994" y2="27344"/>
                        <a14:foregroundMark x1="75000" y1="72070" x2="88721" y2="73486"/>
                        <a14:foregroundMark x1="91553" y1="74902" x2="55957" y2="74902"/>
                        <a14:foregroundMark x1="66260" y1="27734" x2="56689" y2="36572"/>
                        <a14:foregroundMark x1="59521" y1="77783" x2="67822" y2="77051"/>
                        <a14:foregroundMark x1="67822" y1="77051" x2="79102" y2="77393"/>
                        <a14:foregroundMark x1="79102" y1="77393" x2="88086" y2="77051"/>
                        <a14:foregroundMark x1="88086" y1="77051" x2="92578" y2="77051"/>
                        <a14:backgroundMark x1="59473" y1="30859" x2="52441" y2="28027"/>
                        <a14:backgroundMark x1="59131" y1="30859" x2="53857" y2="34375"/>
                        <a14:backgroundMark x1="50342" y1="33301" x2="56055" y2="82715"/>
                        <a14:backgroundMark x1="56055" y1="82715" x2="73779" y2="82861"/>
                        <a14:backgroundMark x1="73779" y1="82861" x2="93750" y2="81641"/>
                        <a14:backgroundMark x1="93750" y1="81641" x2="97168" y2="42676"/>
                        <a14:backgroundMark x1="97168" y1="42676" x2="89307" y2="22949"/>
                        <a14:backgroundMark x1="89307" y1="22949" x2="61035" y2="19434"/>
                        <a14:backgroundMark x1="61035" y1="19434" x2="53516" y2="24170"/>
                        <a14:backgroundMark x1="53516" y1="33691" x2="55176" y2="8936"/>
                        <a14:backgroundMark x1="55176" y1="8936" x2="56738" y2="26367"/>
                        <a14:backgroundMark x1="56738" y1="26367" x2="50342" y2="25928"/>
                        <a14:backgroundMark x1="54541" y1="35791" x2="49268" y2="29102"/>
                        <a14:backgroundMark x1="63721" y1="27686" x2="64265" y2="27897"/>
                        <a14:backgroundMark x1="56006" y1="28613" x2="55615" y2="3588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1395" t="18785" b="17564"/>
          <a:stretch>
            <a:fillRect/>
          </a:stretch>
        </p:blipFill>
        <p:spPr>
          <a:xfrm>
            <a:off x="7098742" y="7832828"/>
            <a:ext cx="1852422" cy="2425854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2F67998C-5129-9B0E-A621-7361E6DF1D6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22217" b="79932" l="1709" r="46875">
                        <a14:foregroundMark x1="39014" y1="78418" x2="30615" y2="78564"/>
                        <a14:foregroundMark x1="30615" y1="78564" x2="39746" y2="78613"/>
                        <a14:foregroundMark x1="39746" y1="78613" x2="26758" y2="79932"/>
                        <a14:foregroundMark x1="26758" y1="79932" x2="12842" y2="77734"/>
                        <a14:foregroundMark x1="28906" y1="28223" x2="25928" y2="23486"/>
                        <a14:foregroundMark x1="20508" y1="28906" x2="15771" y2="22754"/>
                        <a14:foregroundMark x1="15771" y1="22754" x2="6152" y2="22217"/>
                        <a14:foregroundMark x1="6152" y1="22217" x2="5811" y2="31738"/>
                        <a14:foregroundMark x1="5811" y1="31738" x2="15283" y2="33789"/>
                        <a14:foregroundMark x1="15283" y1="33789" x2="18555" y2="25781"/>
                        <a14:foregroundMark x1="18555" y1="25781" x2="10010" y2="23389"/>
                        <a14:foregroundMark x1="10010" y1="23389" x2="16357" y2="28320"/>
                        <a14:foregroundMark x1="16357" y1="28320" x2="8203" y2="31055"/>
                        <a14:foregroundMark x1="8203" y1="31055" x2="16064" y2="29346"/>
                        <a14:foregroundMark x1="16064" y1="29346" x2="11963" y2="25928"/>
                        <a14:foregroundMark x1="1709" y1="26611" x2="2393" y2="25586"/>
                        <a14:foregroundMark x1="27002" y1="22461" x2="25586" y2="2226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6518" r="47907" b="14425"/>
          <a:stretch>
            <a:fillRect/>
          </a:stretch>
        </p:blipFill>
        <p:spPr>
          <a:xfrm>
            <a:off x="2609464" y="7734026"/>
            <a:ext cx="1978989" cy="2623458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CE736259-E613-7E25-41CE-8419B8A3427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7424" b="92067" l="3947" r="89944">
                        <a14:foregroundMark x1="39662" y1="21252" x2="29417" y2="10480"/>
                        <a14:foregroundMark x1="29417" y1="10480" x2="12594" y2="10699"/>
                        <a14:foregroundMark x1="12594" y1="10699" x2="20019" y2="25036"/>
                        <a14:foregroundMark x1="20019" y1="25036" x2="31955" y2="25910"/>
                        <a14:foregroundMark x1="58459" y1="10844" x2="47838" y2="9753"/>
                        <a14:foregroundMark x1="89850" y1="34352" x2="87030" y2="41776"/>
                        <a14:foregroundMark x1="9680" y1="13028" x2="24154" y2="7569"/>
                        <a14:foregroundMark x1="4041" y1="13537" x2="5075" y2="13537"/>
                        <a14:foregroundMark x1="79229" y1="89884" x2="59492" y2="95342"/>
                        <a14:foregroundMark x1="59492" y1="95342" x2="39474" y2="95924"/>
                        <a14:foregroundMark x1="39474" y1="95924" x2="20865" y2="92358"/>
                        <a14:foregroundMark x1="20865" y1="92358" x2="67575" y2="90684"/>
                        <a14:foregroundMark x1="67575" y1="90684" x2="46805" y2="90393"/>
                        <a14:foregroundMark x1="46805" y1="90393" x2="68139" y2="92067"/>
                        <a14:foregroundMark x1="68139" y1="92067" x2="24906" y2="87627"/>
                        <a14:foregroundMark x1="24906" y1="87627" x2="78947" y2="8719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8758" y="7923863"/>
            <a:ext cx="2080471" cy="2686624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03DFA8D5-BD6F-9B46-878A-11A12EA3492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9835" b="93784" l="9792" r="89911">
                        <a14:foregroundMark x1="45203" y1="46577" x2="27695" y2="38946"/>
                        <a14:foregroundMark x1="27695" y1="38946" x2="18892" y2="28403"/>
                        <a14:foregroundMark x1="18892" y1="28403" x2="34916" y2="19355"/>
                        <a14:foregroundMark x1="34916" y1="19355" x2="42730" y2="37530"/>
                        <a14:foregroundMark x1="42730" y1="37530" x2="17211" y2="32415"/>
                        <a14:foregroundMark x1="17211" y1="32415" x2="27992" y2="21164"/>
                        <a14:foregroundMark x1="27992" y1="21164" x2="34718" y2="42486"/>
                        <a14:foregroundMark x1="15848" y1="19755" x2="15668" y2="19539"/>
                        <a14:foregroundMark x1="34718" y1="42486" x2="17158" y2="21334"/>
                        <a14:foregroundMark x1="60040" y1="11487" x2="42433" y2="10936"/>
                        <a14:foregroundMark x1="42433" y1="10936" x2="62315" y2="9913"/>
                        <a14:foregroundMark x1="62315" y1="9913" x2="62512" y2="10386"/>
                        <a14:foregroundMark x1="14441" y1="90480" x2="33234" y2="92132"/>
                        <a14:foregroundMark x1="33234" y1="92132" x2="74580" y2="90716"/>
                        <a14:foregroundMark x1="74580" y1="90716" x2="84075" y2="91031"/>
                        <a14:foregroundMark x1="19782" y1="93234" x2="58655" y2="93784"/>
                        <a14:foregroundMark x1="58655" y1="93784" x2="84768" y2="93234"/>
                        <a14:foregroundMark x1="43422" y1="35956" x2="60435" y2="29032"/>
                        <a14:foregroundMark x1="60435" y1="29032" x2="41741" y2="21479"/>
                        <a14:foregroundMark x1="41741" y1="21479" x2="61523" y2="23053"/>
                        <a14:foregroundMark x1="61523" y1="23053" x2="42433" y2="18332"/>
                        <a14:foregroundMark x1="42433" y1="18332" x2="61128" y2="21007"/>
                        <a14:foregroundMark x1="61128" y1="21007" x2="61820" y2="21637"/>
                        <a14:backgroundMark x1="14837" y1="17703" x2="14441" y2="19355"/>
                        <a14:backgroundMark x1="15232" y1="19906" x2="15925" y2="2163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5849" y="8051315"/>
            <a:ext cx="2068593" cy="260057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7F499D5-887F-C7B2-1252-C4DE820CDCCC}"/>
              </a:ext>
            </a:extLst>
          </p:cNvPr>
          <p:cNvSpPr txBox="1"/>
          <p:nvPr/>
        </p:nvSpPr>
        <p:spPr>
          <a:xfrm>
            <a:off x="16632478" y="4790171"/>
            <a:ext cx="132186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>
                <a:latin typeface="Cambria" panose="02040503050406030204" pitchFamily="18" charset="0"/>
                <a:ea typeface="Cambria" panose="02040503050406030204" pitchFamily="18" charset="0"/>
              </a:rPr>
              <a:t>Deaf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5F373D-E60A-6A12-32BB-19A8211DD665}"/>
              </a:ext>
            </a:extLst>
          </p:cNvPr>
          <p:cNvSpPr txBox="1"/>
          <p:nvPr/>
        </p:nvSpPr>
        <p:spPr>
          <a:xfrm>
            <a:off x="12915522" y="4790171"/>
            <a:ext cx="132186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>
                <a:latin typeface="Cambria" panose="02040503050406030204" pitchFamily="18" charset="0"/>
                <a:ea typeface="Cambria" panose="02040503050406030204" pitchFamily="18" charset="0"/>
              </a:rPr>
              <a:t>Mute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831D4C-AFA4-B08F-0D65-DABFE8C25887}"/>
              </a:ext>
            </a:extLst>
          </p:cNvPr>
          <p:cNvSpPr txBox="1"/>
          <p:nvPr/>
        </p:nvSpPr>
        <p:spPr>
          <a:xfrm>
            <a:off x="2760849" y="2900203"/>
            <a:ext cx="156301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>
                <a:latin typeface="Cambria" panose="02040503050406030204" pitchFamily="18" charset="0"/>
                <a:ea typeface="Cambria" panose="02040503050406030204" pitchFamily="18" charset="0"/>
              </a:rPr>
              <a:t>Dyslexia 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089E8AD1-EBF5-E569-6EEB-FAB63E8A369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498702" y="560686"/>
            <a:ext cx="2089751" cy="2089751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C8860BFC-E799-1D3A-AD4E-BE638DC39ED3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10000" b="90000" l="8383" r="75443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16175"/>
          <a:stretch>
            <a:fillRect/>
          </a:stretch>
        </p:blipFill>
        <p:spPr>
          <a:xfrm>
            <a:off x="12312840" y="1896001"/>
            <a:ext cx="2089751" cy="2089752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7163FF64-CD23-A0A2-4FA8-1A188467CF7E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812"/>
          <a:stretch>
            <a:fillRect/>
          </a:stretch>
        </p:blipFill>
        <p:spPr>
          <a:xfrm>
            <a:off x="15963539" y="1896002"/>
            <a:ext cx="2067323" cy="2089751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38FA244-FF00-02E7-6497-A9D4EDD524DE}"/>
              </a:ext>
            </a:extLst>
          </p:cNvPr>
          <p:cNvSpPr txBox="1"/>
          <p:nvPr/>
        </p:nvSpPr>
        <p:spPr>
          <a:xfrm>
            <a:off x="1441386" y="3437160"/>
            <a:ext cx="91776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language-based learning disorder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7255A4F-E260-E021-9C47-6E3E2E028324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482269" y="466385"/>
            <a:ext cx="3737013" cy="192272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57F5B9B-B17F-FFA8-DEB5-2D222717315E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5136"/>
          <a:stretch>
            <a:fillRect/>
          </a:stretch>
        </p:blipFill>
        <p:spPr>
          <a:xfrm>
            <a:off x="7457788" y="2596469"/>
            <a:ext cx="2009623" cy="258532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9432A45-7FB9-7354-ADDE-8AEC5098D2CE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9173" y="2676572"/>
            <a:ext cx="2035279" cy="398575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CDCF83B7-4335-2FB6-852C-3C088DE30A64}"/>
              </a:ext>
            </a:extLst>
          </p:cNvPr>
          <p:cNvSpPr txBox="1"/>
          <p:nvPr/>
        </p:nvSpPr>
        <p:spPr>
          <a:xfrm>
            <a:off x="-1046489" y="4026514"/>
            <a:ext cx="917768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A lifelong condition with no medical cure</a:t>
            </a:r>
          </a:p>
          <a:p>
            <a:pPr algn="ctr"/>
            <a:endParaRPr lang="en-US" b="1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b="1" dirty="0"/>
              <a:t>1 to 2 out of every 10 people experience Dyslexia</a:t>
            </a:r>
          </a:p>
          <a:p>
            <a:pPr algn="ctr"/>
            <a:endParaRPr lang="en-US" b="1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They Process things well but find difficulty in expressing</a:t>
            </a:r>
          </a:p>
          <a:p>
            <a:pPr algn="ctr"/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Using Voice or Texting   </a:t>
            </a:r>
            <a:r>
              <a:rPr lang="en-US" b="1" dirty="0"/>
              <a:t> </a:t>
            </a:r>
          </a:p>
          <a:p>
            <a:pPr algn="ctr"/>
            <a:endParaRPr lang="en-US" b="1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Community with 7,000 to 39,300 members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F3467AB-0D9E-FD64-9041-C5ABB35AB573}"/>
              </a:ext>
            </a:extLst>
          </p:cNvPr>
          <p:cNvPicPr>
            <a:picLocks noChangeAspect="1"/>
          </p:cNvPicPr>
          <p:nvPr/>
        </p:nvPicPr>
        <p:blipFill>
          <a:blip r:embed="rId19"/>
          <a:srcRect t="24102"/>
          <a:stretch>
            <a:fillRect/>
          </a:stretch>
        </p:blipFill>
        <p:spPr>
          <a:xfrm>
            <a:off x="7616546" y="5400280"/>
            <a:ext cx="1600282" cy="126276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11E6EDF3-5080-263B-B9FB-3210A6C080C4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1164" y="8419072"/>
            <a:ext cx="2211123" cy="2765021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CD2F07D0-3525-143D-D5C4-CD9C7132F416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3209" y="-3329740"/>
            <a:ext cx="3858322" cy="217030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7389693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3CACF2-661D-F0CC-03B5-7E023227F9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Box 47">
            <a:extLst>
              <a:ext uri="{FF2B5EF4-FFF2-40B4-BE49-F238E27FC236}">
                <a16:creationId xmlns:a16="http://schemas.microsoft.com/office/drawing/2014/main" id="{BB5F6557-FC64-74F1-9A24-94A113A72C5D}"/>
              </a:ext>
            </a:extLst>
          </p:cNvPr>
          <p:cNvSpPr txBox="1"/>
          <p:nvPr/>
        </p:nvSpPr>
        <p:spPr>
          <a:xfrm>
            <a:off x="2344221" y="2518062"/>
            <a:ext cx="533872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CBD8E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Hard of Hearing (D/HH)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5388C08-4BA6-B3C6-FEBF-F042E19CC6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4802"/>
            <a:ext cx="12191999" cy="6967603"/>
          </a:xfrm>
          <a:prstGeom prst="rect">
            <a:avLst/>
          </a:prstGeom>
        </p:spPr>
      </p:pic>
      <p:pic>
        <p:nvPicPr>
          <p:cNvPr id="8" name="Picture 7" descr="مبادرة رواد مصر الرقمية">
            <a:extLst>
              <a:ext uri="{FF2B5EF4-FFF2-40B4-BE49-F238E27FC236}">
                <a16:creationId xmlns:a16="http://schemas.microsoft.com/office/drawing/2014/main" id="{2C1A2017-FD5F-BAFA-5ED3-0CB599657C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05906" y="0"/>
            <a:ext cx="1014592" cy="93277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1240A8C-E2D2-B2CA-2991-287019A04AD9}"/>
              </a:ext>
            </a:extLst>
          </p:cNvPr>
          <p:cNvSpPr txBox="1"/>
          <p:nvPr/>
        </p:nvSpPr>
        <p:spPr>
          <a:xfrm>
            <a:off x="1098327" y="-6088669"/>
            <a:ext cx="9995343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000" dirty="0">
                <a:solidFill>
                  <a:srgbClr val="D3DCE5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An adaptive, multi-modal digital ecosystem that bridges communication gaps for people with diverse disabilities: Deaf/Mute, Blind, Dyslexic users. Rather than a standalone mobile app, Rafeeq is architected as a lightweight browser extension that injects assistive UI overlays and real-time processing directly into mainstream web communication platforms such as WhatsApp Web and Facebook. meeting users where they already communicate.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1997BA8-8EFE-B683-B8A0-B16676CC52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6" y="-3560203"/>
            <a:ext cx="9144000" cy="2387600"/>
          </a:xfrm>
        </p:spPr>
        <p:txBody>
          <a:bodyPr/>
          <a:lstStyle/>
          <a:p>
            <a:r>
              <a:rPr lang="en-US" b="1" dirty="0">
                <a:solidFill>
                  <a:srgbClr val="D3DCE5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Project Rafeeq </a:t>
            </a:r>
            <a:br>
              <a:rPr lang="en-US" b="1" dirty="0">
                <a:solidFill>
                  <a:srgbClr val="D3DCE5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3400" b="1" dirty="0">
                <a:solidFill>
                  <a:srgbClr val="D3DCE5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First Milestone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46CBDA5D-4995-85DA-502A-CEBC51277A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6" y="-1121210"/>
            <a:ext cx="9144000" cy="1655762"/>
          </a:xfrm>
        </p:spPr>
        <p:txBody>
          <a:bodyPr>
            <a:normAutofit/>
          </a:bodyPr>
          <a:lstStyle/>
          <a:p>
            <a:r>
              <a:rPr lang="en-US" sz="2300" dirty="0">
                <a:solidFill>
                  <a:srgbClr val="D3DCE5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Browser-Based Accessibility Extension 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0E360649-3D0A-2B9C-35B5-52C566B5921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25098" b="77051" l="50342" r="95068">
                        <a14:foregroundMark x1="53459" y1="29968" x2="50342" y2="29736"/>
                        <a14:foregroundMark x1="54681" y1="30059" x2="54068" y2="30013"/>
                        <a14:foregroundMark x1="89063" y1="32617" x2="59236" y2="30398"/>
                        <a14:foregroundMark x1="56917" y1="34867" x2="67236" y2="42920"/>
                        <a14:foregroundMark x1="50342" y1="29736" x2="54155" y2="32711"/>
                        <a14:foregroundMark x1="67236" y1="42920" x2="87744" y2="45020"/>
                        <a14:foregroundMark x1="87744" y1="45020" x2="73389" y2="32910"/>
                        <a14:foregroundMark x1="73389" y1="32910" x2="89307" y2="37891"/>
                        <a14:foregroundMark x1="89307" y1="37891" x2="92969" y2="37891"/>
                        <a14:foregroundMark x1="83789" y1="30127" x2="68994" y2="27344"/>
                        <a14:foregroundMark x1="75000" y1="72070" x2="88721" y2="73486"/>
                        <a14:foregroundMark x1="91553" y1="74902" x2="55957" y2="74902"/>
                        <a14:foregroundMark x1="66260" y1="27734" x2="56689" y2="36572"/>
                        <a14:foregroundMark x1="59521" y1="77783" x2="67822" y2="77051"/>
                        <a14:foregroundMark x1="67822" y1="77051" x2="79102" y2="77393"/>
                        <a14:foregroundMark x1="79102" y1="77393" x2="88086" y2="77051"/>
                        <a14:foregroundMark x1="88086" y1="77051" x2="92578" y2="77051"/>
                        <a14:backgroundMark x1="59473" y1="30859" x2="52441" y2="28027"/>
                        <a14:backgroundMark x1="59131" y1="30859" x2="53857" y2="34375"/>
                        <a14:backgroundMark x1="50342" y1="33301" x2="56055" y2="82715"/>
                        <a14:backgroundMark x1="56055" y1="82715" x2="73779" y2="82861"/>
                        <a14:backgroundMark x1="73779" y1="82861" x2="93750" y2="81641"/>
                        <a14:backgroundMark x1="93750" y1="81641" x2="97168" y2="42676"/>
                        <a14:backgroundMark x1="97168" y1="42676" x2="89307" y2="22949"/>
                        <a14:backgroundMark x1="89307" y1="22949" x2="61035" y2="19434"/>
                        <a14:backgroundMark x1="61035" y1="19434" x2="53516" y2="24170"/>
                        <a14:backgroundMark x1="53516" y1="33691" x2="55176" y2="8936"/>
                        <a14:backgroundMark x1="55176" y1="8936" x2="56738" y2="26367"/>
                        <a14:backgroundMark x1="56738" y1="26367" x2="50342" y2="25928"/>
                        <a14:backgroundMark x1="54541" y1="35791" x2="49268" y2="29102"/>
                        <a14:backgroundMark x1="63721" y1="27686" x2="64265" y2="27897"/>
                        <a14:backgroundMark x1="56006" y1="28613" x2="55615" y2="3588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1395" t="18785" b="17564"/>
          <a:stretch>
            <a:fillRect/>
          </a:stretch>
        </p:blipFill>
        <p:spPr>
          <a:xfrm>
            <a:off x="7098742" y="7832828"/>
            <a:ext cx="1852422" cy="2425854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5B71E45C-DF41-00B0-B1D6-E940A29EA3E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22217" b="79932" l="1709" r="46875">
                        <a14:foregroundMark x1="39014" y1="78418" x2="30615" y2="78564"/>
                        <a14:foregroundMark x1="30615" y1="78564" x2="39746" y2="78613"/>
                        <a14:foregroundMark x1="39746" y1="78613" x2="26758" y2="79932"/>
                        <a14:foregroundMark x1="26758" y1="79932" x2="12842" y2="77734"/>
                        <a14:foregroundMark x1="28906" y1="28223" x2="25928" y2="23486"/>
                        <a14:foregroundMark x1="20508" y1="28906" x2="15771" y2="22754"/>
                        <a14:foregroundMark x1="15771" y1="22754" x2="6152" y2="22217"/>
                        <a14:foregroundMark x1="6152" y1="22217" x2="5811" y2="31738"/>
                        <a14:foregroundMark x1="5811" y1="31738" x2="15283" y2="33789"/>
                        <a14:foregroundMark x1="15283" y1="33789" x2="18555" y2="25781"/>
                        <a14:foregroundMark x1="18555" y1="25781" x2="10010" y2="23389"/>
                        <a14:foregroundMark x1="10010" y1="23389" x2="16357" y2="28320"/>
                        <a14:foregroundMark x1="16357" y1="28320" x2="8203" y2="31055"/>
                        <a14:foregroundMark x1="8203" y1="31055" x2="16064" y2="29346"/>
                        <a14:foregroundMark x1="16064" y1="29346" x2="11963" y2="25928"/>
                        <a14:foregroundMark x1="1709" y1="26611" x2="2393" y2="25586"/>
                        <a14:foregroundMark x1="27002" y1="22461" x2="25586" y2="2226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6518" r="47907" b="14425"/>
          <a:stretch>
            <a:fillRect/>
          </a:stretch>
        </p:blipFill>
        <p:spPr>
          <a:xfrm>
            <a:off x="2609464" y="7734026"/>
            <a:ext cx="1978989" cy="2623458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FBAA2091-88F2-DF44-0C51-F0A8CDF29BD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7424" b="92067" l="3947" r="89944">
                        <a14:foregroundMark x1="39662" y1="21252" x2="29417" y2="10480"/>
                        <a14:foregroundMark x1="29417" y1="10480" x2="12594" y2="10699"/>
                        <a14:foregroundMark x1="12594" y1="10699" x2="20019" y2="25036"/>
                        <a14:foregroundMark x1="20019" y1="25036" x2="31955" y2="25910"/>
                        <a14:foregroundMark x1="58459" y1="10844" x2="47838" y2="9753"/>
                        <a14:foregroundMark x1="89850" y1="34352" x2="87030" y2="41776"/>
                        <a14:foregroundMark x1="9680" y1="13028" x2="24154" y2="7569"/>
                        <a14:foregroundMark x1="4041" y1="13537" x2="5075" y2="13537"/>
                        <a14:foregroundMark x1="79229" y1="89884" x2="59492" y2="95342"/>
                        <a14:foregroundMark x1="59492" y1="95342" x2="39474" y2="95924"/>
                        <a14:foregroundMark x1="39474" y1="95924" x2="20865" y2="92358"/>
                        <a14:foregroundMark x1="20865" y1="92358" x2="67575" y2="90684"/>
                        <a14:foregroundMark x1="67575" y1="90684" x2="46805" y2="90393"/>
                        <a14:foregroundMark x1="46805" y1="90393" x2="68139" y2="92067"/>
                        <a14:foregroundMark x1="68139" y1="92067" x2="24906" y2="87627"/>
                        <a14:foregroundMark x1="24906" y1="87627" x2="78947" y2="8719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8758" y="7923863"/>
            <a:ext cx="2080471" cy="2686624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D9F84161-9638-83BB-BCC7-378CDC8206D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9835" b="93784" l="9792" r="89911">
                        <a14:foregroundMark x1="45203" y1="46577" x2="27695" y2="38946"/>
                        <a14:foregroundMark x1="27695" y1="38946" x2="18892" y2="28403"/>
                        <a14:foregroundMark x1="18892" y1="28403" x2="34916" y2="19355"/>
                        <a14:foregroundMark x1="34916" y1="19355" x2="42730" y2="37530"/>
                        <a14:foregroundMark x1="42730" y1="37530" x2="17211" y2="32415"/>
                        <a14:foregroundMark x1="17211" y1="32415" x2="27992" y2="21164"/>
                        <a14:foregroundMark x1="27992" y1="21164" x2="34718" y2="42486"/>
                        <a14:foregroundMark x1="15848" y1="19755" x2="15668" y2="19539"/>
                        <a14:foregroundMark x1="34718" y1="42486" x2="17158" y2="21334"/>
                        <a14:foregroundMark x1="60040" y1="11487" x2="42433" y2="10936"/>
                        <a14:foregroundMark x1="42433" y1="10936" x2="62315" y2="9913"/>
                        <a14:foregroundMark x1="62315" y1="9913" x2="62512" y2="10386"/>
                        <a14:foregroundMark x1="14441" y1="90480" x2="33234" y2="92132"/>
                        <a14:foregroundMark x1="33234" y1="92132" x2="74580" y2="90716"/>
                        <a14:foregroundMark x1="74580" y1="90716" x2="84075" y2="91031"/>
                        <a14:foregroundMark x1="19782" y1="93234" x2="58655" y2="93784"/>
                        <a14:foregroundMark x1="58655" y1="93784" x2="84768" y2="93234"/>
                        <a14:foregroundMark x1="43422" y1="35956" x2="60435" y2="29032"/>
                        <a14:foregroundMark x1="60435" y1="29032" x2="41741" y2="21479"/>
                        <a14:foregroundMark x1="41741" y1="21479" x2="61523" y2="23053"/>
                        <a14:foregroundMark x1="61523" y1="23053" x2="42433" y2="18332"/>
                        <a14:foregroundMark x1="42433" y1="18332" x2="61128" y2="21007"/>
                        <a14:foregroundMark x1="61128" y1="21007" x2="61820" y2="21637"/>
                        <a14:backgroundMark x1="14837" y1="17703" x2="14441" y2="19355"/>
                        <a14:backgroundMark x1="15232" y1="19906" x2="15925" y2="2163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5849" y="8051315"/>
            <a:ext cx="2068593" cy="260057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3BFF957-551A-A316-5B2C-5AE916D7E2C0}"/>
              </a:ext>
            </a:extLst>
          </p:cNvPr>
          <p:cNvSpPr txBox="1"/>
          <p:nvPr/>
        </p:nvSpPr>
        <p:spPr>
          <a:xfrm>
            <a:off x="16632478" y="4790171"/>
            <a:ext cx="132186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>
                <a:latin typeface="Cambria" panose="02040503050406030204" pitchFamily="18" charset="0"/>
                <a:ea typeface="Cambria" panose="02040503050406030204" pitchFamily="18" charset="0"/>
              </a:rPr>
              <a:t>Deaf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D60CEA-ADDF-5138-5370-660ABB32C9A2}"/>
              </a:ext>
            </a:extLst>
          </p:cNvPr>
          <p:cNvSpPr txBox="1"/>
          <p:nvPr/>
        </p:nvSpPr>
        <p:spPr>
          <a:xfrm>
            <a:off x="3598958" y="3057484"/>
            <a:ext cx="132186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>
                <a:latin typeface="Cambria" panose="02040503050406030204" pitchFamily="18" charset="0"/>
                <a:ea typeface="Cambria" panose="02040503050406030204" pitchFamily="18" charset="0"/>
              </a:rPr>
              <a:t>Mute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F2C10D-DA5B-2834-4793-E1290090DE24}"/>
              </a:ext>
            </a:extLst>
          </p:cNvPr>
          <p:cNvSpPr txBox="1"/>
          <p:nvPr/>
        </p:nvSpPr>
        <p:spPr>
          <a:xfrm>
            <a:off x="-8173038" y="2900203"/>
            <a:ext cx="156301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>
                <a:latin typeface="Cambria" panose="02040503050406030204" pitchFamily="18" charset="0"/>
                <a:ea typeface="Cambria" panose="02040503050406030204" pitchFamily="18" charset="0"/>
              </a:rPr>
              <a:t>Dyslexia 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761D968-FEC2-98C3-172A-DB9B38AD916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8435185" y="560686"/>
            <a:ext cx="2089751" cy="2089751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11EC52CE-BBBE-F1BB-F5F1-B67913F6006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10000" b="90000" l="8383" r="75443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16175"/>
          <a:stretch>
            <a:fillRect/>
          </a:stretch>
        </p:blipFill>
        <p:spPr>
          <a:xfrm>
            <a:off x="2953786" y="751142"/>
            <a:ext cx="2089751" cy="2089752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EFD77848-E5A3-0881-04B6-F976DA7B1FD1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812"/>
          <a:stretch>
            <a:fillRect/>
          </a:stretch>
        </p:blipFill>
        <p:spPr>
          <a:xfrm>
            <a:off x="15963539" y="1896002"/>
            <a:ext cx="2067323" cy="2089751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936AE70-3D40-8667-353D-9C13B3688CAD}"/>
              </a:ext>
            </a:extLst>
          </p:cNvPr>
          <p:cNvSpPr txBox="1"/>
          <p:nvPr/>
        </p:nvSpPr>
        <p:spPr>
          <a:xfrm>
            <a:off x="-9492501" y="3437160"/>
            <a:ext cx="91776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language-based learning disorder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55F26C7-3F7C-5E72-12EC-321B6C2DE960}"/>
              </a:ext>
            </a:extLst>
          </p:cNvPr>
          <p:cNvSpPr txBox="1"/>
          <p:nvPr/>
        </p:nvSpPr>
        <p:spPr>
          <a:xfrm>
            <a:off x="-11980376" y="4026514"/>
            <a:ext cx="917768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A lifelong condition with no medical cure</a:t>
            </a:r>
          </a:p>
          <a:p>
            <a:pPr algn="ctr"/>
            <a:endParaRPr lang="en-US" b="1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b="1" dirty="0"/>
              <a:t>1 to 2 out of every 10 people experience Dyslexia</a:t>
            </a:r>
          </a:p>
          <a:p>
            <a:pPr algn="ctr"/>
            <a:endParaRPr lang="en-US" b="1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They Process things well but find difficulty in expressing</a:t>
            </a:r>
          </a:p>
          <a:p>
            <a:pPr algn="ctr"/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Using Voice or Texting   </a:t>
            </a:r>
            <a:r>
              <a:rPr lang="en-US" b="1" dirty="0"/>
              <a:t> </a:t>
            </a:r>
          </a:p>
          <a:p>
            <a:pPr algn="ctr"/>
            <a:endParaRPr lang="en-US" b="1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Community with 7,000 to 39,300 members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0CFC3C0-F252-53E9-BA81-DFDBF7748D38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3122690" y="466385"/>
            <a:ext cx="3737013" cy="192272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805ACC1-3035-5F06-F683-7FDD32A3ACAA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9173" y="-4888908"/>
            <a:ext cx="2035279" cy="398575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30A57157-3560-4B58-95AB-B472ECEE5458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5136"/>
          <a:stretch>
            <a:fillRect/>
          </a:stretch>
        </p:blipFill>
        <p:spPr>
          <a:xfrm>
            <a:off x="7457788" y="7469546"/>
            <a:ext cx="2009623" cy="258532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20D50528-659A-D484-A104-C4B6B32D33F0}"/>
              </a:ext>
            </a:extLst>
          </p:cNvPr>
          <p:cNvPicPr>
            <a:picLocks noChangeAspect="1"/>
          </p:cNvPicPr>
          <p:nvPr/>
        </p:nvPicPr>
        <p:blipFill>
          <a:blip r:embed="rId19"/>
          <a:srcRect t="24102"/>
          <a:stretch>
            <a:fillRect/>
          </a:stretch>
        </p:blipFill>
        <p:spPr>
          <a:xfrm>
            <a:off x="7616546" y="10273357"/>
            <a:ext cx="1600282" cy="126276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5FE88EE4-4DE2-88F9-6B96-4913010D9669}"/>
              </a:ext>
            </a:extLst>
          </p:cNvPr>
          <p:cNvSpPr txBox="1"/>
          <p:nvPr/>
        </p:nvSpPr>
        <p:spPr>
          <a:xfrm>
            <a:off x="1099178" y="3707247"/>
            <a:ext cx="599956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Inability to produce spoken voice communication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EE850C4-C2F3-20CE-1582-29BE18FA652E}"/>
              </a:ext>
            </a:extLst>
          </p:cNvPr>
          <p:cNvSpPr txBox="1"/>
          <p:nvPr/>
        </p:nvSpPr>
        <p:spPr>
          <a:xfrm>
            <a:off x="-1046098" y="4165993"/>
            <a:ext cx="1026292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Cannot use voice calls, voice notes, or standard spoken audio apps.</a:t>
            </a:r>
          </a:p>
          <a:p>
            <a:pPr algn="ctr"/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b="1" dirty="0"/>
              <a:t>Fully rely on text messaging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b="1" dirty="0"/>
              <a:t>Texting is slow and lacks real-time expression</a:t>
            </a:r>
          </a:p>
          <a:p>
            <a:pPr algn="ctr"/>
            <a:endParaRPr lang="en-US" b="1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b="1" dirty="0"/>
              <a:t>mainstream apps do not translate sign language into speech or text automatically.</a:t>
            </a:r>
          </a:p>
          <a:p>
            <a:pPr algn="ctr"/>
            <a:endParaRPr lang="en-US" b="1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112092FE-7819-1498-A94D-21C8C28291BC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1164" y="3837270"/>
            <a:ext cx="2211123" cy="2685619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6817B9B3-0826-6B11-7581-4FF1B1851100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3209" y="1197650"/>
            <a:ext cx="3858322" cy="217030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BEB2A1B5-C893-0447-5F3F-39566B3F88EC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5116" y="-3362245"/>
            <a:ext cx="4024988" cy="226405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8801EC7E-1FD0-E606-434C-B28AA52E596E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911776" y="8298115"/>
            <a:ext cx="3834793" cy="210473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3375977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3213EB-E84C-6662-153A-B31005CDE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66385BC-734E-8C2C-BBF6-8F2EE29F0D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4802"/>
            <a:ext cx="12191999" cy="6967603"/>
          </a:xfrm>
          <a:prstGeom prst="rect">
            <a:avLst/>
          </a:prstGeom>
        </p:spPr>
      </p:pic>
      <p:pic>
        <p:nvPicPr>
          <p:cNvPr id="8" name="Picture 7" descr="مبادرة رواد مصر الرقمية">
            <a:extLst>
              <a:ext uri="{FF2B5EF4-FFF2-40B4-BE49-F238E27FC236}">
                <a16:creationId xmlns:a16="http://schemas.microsoft.com/office/drawing/2014/main" id="{48745F92-0710-FE18-465C-D944A19E9C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05906" y="0"/>
            <a:ext cx="1014592" cy="93277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B38249F-33B6-CCEB-C6CE-5D691B0A6AD2}"/>
              </a:ext>
            </a:extLst>
          </p:cNvPr>
          <p:cNvSpPr txBox="1"/>
          <p:nvPr/>
        </p:nvSpPr>
        <p:spPr>
          <a:xfrm>
            <a:off x="1098327" y="-6088669"/>
            <a:ext cx="9995343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000" dirty="0">
                <a:solidFill>
                  <a:srgbClr val="D3DCE5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An adaptive, multi-modal digital ecosystem that bridges communication gaps for people with diverse disabilities: Deaf/Mute, Blind, Dyslexic users. Rather than a standalone mobile app, Rafeeq is architected as a lightweight browser extension that injects assistive UI overlays and real-time processing directly into mainstream web communication platforms such as WhatsApp Web and Facebook. meeting users where they already communicate.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6BAA427-B5FE-3486-7F0A-F5140F0ACB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6" y="-3560203"/>
            <a:ext cx="9144000" cy="2387600"/>
          </a:xfrm>
        </p:spPr>
        <p:txBody>
          <a:bodyPr/>
          <a:lstStyle/>
          <a:p>
            <a:r>
              <a:rPr lang="en-US" b="1" dirty="0">
                <a:solidFill>
                  <a:srgbClr val="D3DCE5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Project Rafeeq </a:t>
            </a:r>
            <a:br>
              <a:rPr lang="en-US" b="1" dirty="0">
                <a:solidFill>
                  <a:srgbClr val="D3DCE5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3400" b="1" dirty="0">
                <a:solidFill>
                  <a:srgbClr val="D3DCE5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First Milestone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00DA3194-AFB7-E5A2-CBA7-05F4D8C191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6" y="-1121210"/>
            <a:ext cx="9144000" cy="1655762"/>
          </a:xfrm>
        </p:spPr>
        <p:txBody>
          <a:bodyPr>
            <a:normAutofit/>
          </a:bodyPr>
          <a:lstStyle/>
          <a:p>
            <a:r>
              <a:rPr lang="en-US" sz="2300" dirty="0">
                <a:solidFill>
                  <a:srgbClr val="D3DCE5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Browser-Based Accessibility Extension 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159B1197-F2A4-A9BD-CF9E-CE56D986136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25098" b="77051" l="50342" r="95068">
                        <a14:foregroundMark x1="53459" y1="29968" x2="50342" y2="29736"/>
                        <a14:foregroundMark x1="54681" y1="30059" x2="54068" y2="30013"/>
                        <a14:foregroundMark x1="89063" y1="32617" x2="59236" y2="30398"/>
                        <a14:foregroundMark x1="56917" y1="34867" x2="67236" y2="42920"/>
                        <a14:foregroundMark x1="50342" y1="29736" x2="54155" y2="32711"/>
                        <a14:foregroundMark x1="67236" y1="42920" x2="87744" y2="45020"/>
                        <a14:foregroundMark x1="87744" y1="45020" x2="73389" y2="32910"/>
                        <a14:foregroundMark x1="73389" y1="32910" x2="89307" y2="37891"/>
                        <a14:foregroundMark x1="89307" y1="37891" x2="92969" y2="37891"/>
                        <a14:foregroundMark x1="83789" y1="30127" x2="68994" y2="27344"/>
                        <a14:foregroundMark x1="75000" y1="72070" x2="88721" y2="73486"/>
                        <a14:foregroundMark x1="91553" y1="74902" x2="55957" y2="74902"/>
                        <a14:foregroundMark x1="66260" y1="27734" x2="56689" y2="36572"/>
                        <a14:foregroundMark x1="59521" y1="77783" x2="67822" y2="77051"/>
                        <a14:foregroundMark x1="67822" y1="77051" x2="79102" y2="77393"/>
                        <a14:foregroundMark x1="79102" y1="77393" x2="88086" y2="77051"/>
                        <a14:foregroundMark x1="88086" y1="77051" x2="92578" y2="77051"/>
                        <a14:backgroundMark x1="59473" y1="30859" x2="52441" y2="28027"/>
                        <a14:backgroundMark x1="59131" y1="30859" x2="53857" y2="34375"/>
                        <a14:backgroundMark x1="50342" y1="33301" x2="56055" y2="82715"/>
                        <a14:backgroundMark x1="56055" y1="82715" x2="73779" y2="82861"/>
                        <a14:backgroundMark x1="73779" y1="82861" x2="93750" y2="81641"/>
                        <a14:backgroundMark x1="93750" y1="81641" x2="97168" y2="42676"/>
                        <a14:backgroundMark x1="97168" y1="42676" x2="89307" y2="22949"/>
                        <a14:backgroundMark x1="89307" y1="22949" x2="61035" y2="19434"/>
                        <a14:backgroundMark x1="61035" y1="19434" x2="53516" y2="24170"/>
                        <a14:backgroundMark x1="53516" y1="33691" x2="55176" y2="8936"/>
                        <a14:backgroundMark x1="55176" y1="8936" x2="56738" y2="26367"/>
                        <a14:backgroundMark x1="56738" y1="26367" x2="50342" y2="25928"/>
                        <a14:backgroundMark x1="54541" y1="35791" x2="49268" y2="29102"/>
                        <a14:backgroundMark x1="63721" y1="27686" x2="64265" y2="27897"/>
                        <a14:backgroundMark x1="56006" y1="28613" x2="55615" y2="3588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1395" t="18785" b="17564"/>
          <a:stretch>
            <a:fillRect/>
          </a:stretch>
        </p:blipFill>
        <p:spPr>
          <a:xfrm>
            <a:off x="7098742" y="7832828"/>
            <a:ext cx="1852422" cy="2425854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53520282-0548-3F8E-486D-BED1E163A8B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22217" b="79932" l="1709" r="46875">
                        <a14:foregroundMark x1="39014" y1="78418" x2="30615" y2="78564"/>
                        <a14:foregroundMark x1="30615" y1="78564" x2="39746" y2="78613"/>
                        <a14:foregroundMark x1="39746" y1="78613" x2="26758" y2="79932"/>
                        <a14:foregroundMark x1="26758" y1="79932" x2="12842" y2="77734"/>
                        <a14:foregroundMark x1="28906" y1="28223" x2="25928" y2="23486"/>
                        <a14:foregroundMark x1="20508" y1="28906" x2="15771" y2="22754"/>
                        <a14:foregroundMark x1="15771" y1="22754" x2="6152" y2="22217"/>
                        <a14:foregroundMark x1="6152" y1="22217" x2="5811" y2="31738"/>
                        <a14:foregroundMark x1="5811" y1="31738" x2="15283" y2="33789"/>
                        <a14:foregroundMark x1="15283" y1="33789" x2="18555" y2="25781"/>
                        <a14:foregroundMark x1="18555" y1="25781" x2="10010" y2="23389"/>
                        <a14:foregroundMark x1="10010" y1="23389" x2="16357" y2="28320"/>
                        <a14:foregroundMark x1="16357" y1="28320" x2="8203" y2="31055"/>
                        <a14:foregroundMark x1="8203" y1="31055" x2="16064" y2="29346"/>
                        <a14:foregroundMark x1="16064" y1="29346" x2="11963" y2="25928"/>
                        <a14:foregroundMark x1="1709" y1="26611" x2="2393" y2="25586"/>
                        <a14:foregroundMark x1="27002" y1="22461" x2="25586" y2="2226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6518" r="47907" b="14425"/>
          <a:stretch>
            <a:fillRect/>
          </a:stretch>
        </p:blipFill>
        <p:spPr>
          <a:xfrm>
            <a:off x="2609464" y="7734026"/>
            <a:ext cx="1978989" cy="2623458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C2BF5E2F-700F-70DF-199A-17C17DE0A51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7424" b="92067" l="3947" r="89944">
                        <a14:foregroundMark x1="39662" y1="21252" x2="29417" y2="10480"/>
                        <a14:foregroundMark x1="29417" y1="10480" x2="12594" y2="10699"/>
                        <a14:foregroundMark x1="12594" y1="10699" x2="20019" y2="25036"/>
                        <a14:foregroundMark x1="20019" y1="25036" x2="31955" y2="25910"/>
                        <a14:foregroundMark x1="58459" y1="10844" x2="47838" y2="9753"/>
                        <a14:foregroundMark x1="89850" y1="34352" x2="87030" y2="41776"/>
                        <a14:foregroundMark x1="9680" y1="13028" x2="24154" y2="7569"/>
                        <a14:foregroundMark x1="4041" y1="13537" x2="5075" y2="13537"/>
                        <a14:foregroundMark x1="79229" y1="89884" x2="59492" y2="95342"/>
                        <a14:foregroundMark x1="59492" y1="95342" x2="39474" y2="95924"/>
                        <a14:foregroundMark x1="39474" y1="95924" x2="20865" y2="92358"/>
                        <a14:foregroundMark x1="20865" y1="92358" x2="67575" y2="90684"/>
                        <a14:foregroundMark x1="67575" y1="90684" x2="46805" y2="90393"/>
                        <a14:foregroundMark x1="46805" y1="90393" x2="68139" y2="92067"/>
                        <a14:foregroundMark x1="68139" y1="92067" x2="24906" y2="87627"/>
                        <a14:foregroundMark x1="24906" y1="87627" x2="78947" y2="8719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8758" y="7923863"/>
            <a:ext cx="2080471" cy="2686624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16680DE-187E-70FF-544A-B0B3D287E30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9835" b="93784" l="9792" r="89911">
                        <a14:foregroundMark x1="45203" y1="46577" x2="27695" y2="38946"/>
                        <a14:foregroundMark x1="27695" y1="38946" x2="18892" y2="28403"/>
                        <a14:foregroundMark x1="18892" y1="28403" x2="34916" y2="19355"/>
                        <a14:foregroundMark x1="34916" y1="19355" x2="42730" y2="37530"/>
                        <a14:foregroundMark x1="42730" y1="37530" x2="17211" y2="32415"/>
                        <a14:foregroundMark x1="17211" y1="32415" x2="27992" y2="21164"/>
                        <a14:foregroundMark x1="27992" y1="21164" x2="34718" y2="42486"/>
                        <a14:foregroundMark x1="15848" y1="19755" x2="15668" y2="19539"/>
                        <a14:foregroundMark x1="34718" y1="42486" x2="17158" y2="21334"/>
                        <a14:foregroundMark x1="60040" y1="11487" x2="42433" y2="10936"/>
                        <a14:foregroundMark x1="42433" y1="10936" x2="62315" y2="9913"/>
                        <a14:foregroundMark x1="62315" y1="9913" x2="62512" y2="10386"/>
                        <a14:foregroundMark x1="14441" y1="90480" x2="33234" y2="92132"/>
                        <a14:foregroundMark x1="33234" y1="92132" x2="74580" y2="90716"/>
                        <a14:foregroundMark x1="74580" y1="90716" x2="84075" y2="91031"/>
                        <a14:foregroundMark x1="19782" y1="93234" x2="58655" y2="93784"/>
                        <a14:foregroundMark x1="58655" y1="93784" x2="84768" y2="93234"/>
                        <a14:foregroundMark x1="43422" y1="35956" x2="60435" y2="29032"/>
                        <a14:foregroundMark x1="60435" y1="29032" x2="41741" y2="21479"/>
                        <a14:foregroundMark x1="41741" y1="21479" x2="61523" y2="23053"/>
                        <a14:foregroundMark x1="61523" y1="23053" x2="42433" y2="18332"/>
                        <a14:foregroundMark x1="42433" y1="18332" x2="61128" y2="21007"/>
                        <a14:foregroundMark x1="61128" y1="21007" x2="61820" y2="21637"/>
                        <a14:backgroundMark x1="14837" y1="17703" x2="14441" y2="19355"/>
                        <a14:backgroundMark x1="15232" y1="19906" x2="15925" y2="2163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5849" y="8051315"/>
            <a:ext cx="2068593" cy="260057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013789A-9315-E484-C0BE-11288D4574E0}"/>
              </a:ext>
            </a:extLst>
          </p:cNvPr>
          <p:cNvSpPr txBox="1"/>
          <p:nvPr/>
        </p:nvSpPr>
        <p:spPr>
          <a:xfrm>
            <a:off x="3440613" y="2916738"/>
            <a:ext cx="132186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>
                <a:latin typeface="Cambria" panose="02040503050406030204" pitchFamily="18" charset="0"/>
                <a:ea typeface="Cambria" panose="02040503050406030204" pitchFamily="18" charset="0"/>
              </a:rPr>
              <a:t>Deaf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18172E-2A43-EB63-CAD1-3EF5F532E35C}"/>
              </a:ext>
            </a:extLst>
          </p:cNvPr>
          <p:cNvSpPr txBox="1"/>
          <p:nvPr/>
        </p:nvSpPr>
        <p:spPr>
          <a:xfrm>
            <a:off x="-6256242" y="3057484"/>
            <a:ext cx="132186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>
                <a:latin typeface="Cambria" panose="02040503050406030204" pitchFamily="18" charset="0"/>
                <a:ea typeface="Cambria" panose="02040503050406030204" pitchFamily="18" charset="0"/>
              </a:rPr>
              <a:t>Mute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55F9EB3-6E32-003D-B340-BBE2D6523B72}"/>
              </a:ext>
            </a:extLst>
          </p:cNvPr>
          <p:cNvSpPr txBox="1"/>
          <p:nvPr/>
        </p:nvSpPr>
        <p:spPr>
          <a:xfrm>
            <a:off x="-8173038" y="2900203"/>
            <a:ext cx="156301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>
                <a:latin typeface="Cambria" panose="02040503050406030204" pitchFamily="18" charset="0"/>
                <a:ea typeface="Cambria" panose="02040503050406030204" pitchFamily="18" charset="0"/>
              </a:rPr>
              <a:t>Dyslexia 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19F3658D-AC2F-F3DE-ECC7-3BF9A110C60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8435185" y="560686"/>
            <a:ext cx="2089751" cy="2089751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7F0621D2-0C47-BD52-5A36-0E9508DDC6E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10000" b="90000" l="8383" r="75443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16175"/>
          <a:stretch>
            <a:fillRect/>
          </a:stretch>
        </p:blipFill>
        <p:spPr>
          <a:xfrm>
            <a:off x="-6901414" y="751142"/>
            <a:ext cx="2089751" cy="2089752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8B3E7D0-0EBE-07CE-FE22-0D4A7320209F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812"/>
          <a:stretch>
            <a:fillRect/>
          </a:stretch>
        </p:blipFill>
        <p:spPr>
          <a:xfrm>
            <a:off x="2800182" y="550906"/>
            <a:ext cx="2067323" cy="2089751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B3EEDA3-2AA0-8290-B459-52A5F3A298BD}"/>
              </a:ext>
            </a:extLst>
          </p:cNvPr>
          <p:cNvSpPr txBox="1"/>
          <p:nvPr/>
        </p:nvSpPr>
        <p:spPr>
          <a:xfrm>
            <a:off x="-9492501" y="3437160"/>
            <a:ext cx="91776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language-based learning disorder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A5E8C3C-FA6B-4EE8-8BD2-E70DD86FC856}"/>
              </a:ext>
            </a:extLst>
          </p:cNvPr>
          <p:cNvSpPr txBox="1"/>
          <p:nvPr/>
        </p:nvSpPr>
        <p:spPr>
          <a:xfrm>
            <a:off x="-11980376" y="4026514"/>
            <a:ext cx="917768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A lifelong condition with no medical cure</a:t>
            </a:r>
          </a:p>
          <a:p>
            <a:pPr algn="ctr"/>
            <a:endParaRPr lang="en-US" b="1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b="1" dirty="0"/>
              <a:t>1 to 2 out of every 10 people experience Dyslexia</a:t>
            </a:r>
          </a:p>
          <a:p>
            <a:pPr algn="ctr"/>
            <a:endParaRPr lang="en-US" b="1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They Process things well but find difficulty in expressing</a:t>
            </a:r>
          </a:p>
          <a:p>
            <a:pPr algn="ctr"/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Using Voice or Texting   </a:t>
            </a:r>
            <a:r>
              <a:rPr lang="en-US" b="1" dirty="0"/>
              <a:t> </a:t>
            </a:r>
          </a:p>
          <a:p>
            <a:pPr algn="ctr"/>
            <a:endParaRPr lang="en-US" b="1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Community with 7,000 to 39,300 members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A9B0AB7-3510-F10C-900E-5A17D672280E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3122690" y="466385"/>
            <a:ext cx="3737013" cy="192272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082349D-3E23-2EE2-F8E2-C3145BB72D99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9173" y="-4888908"/>
            <a:ext cx="2035279" cy="398575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260D0E0A-4B6B-198E-7DFF-8040617F11B5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5136"/>
          <a:stretch>
            <a:fillRect/>
          </a:stretch>
        </p:blipFill>
        <p:spPr>
          <a:xfrm>
            <a:off x="7457788" y="7469546"/>
            <a:ext cx="2009623" cy="258532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BA31F114-EFB5-D67D-7575-D7C054908075}"/>
              </a:ext>
            </a:extLst>
          </p:cNvPr>
          <p:cNvPicPr>
            <a:picLocks noChangeAspect="1"/>
          </p:cNvPicPr>
          <p:nvPr/>
        </p:nvPicPr>
        <p:blipFill>
          <a:blip r:embed="rId19"/>
          <a:srcRect t="24102"/>
          <a:stretch>
            <a:fillRect/>
          </a:stretch>
        </p:blipFill>
        <p:spPr>
          <a:xfrm>
            <a:off x="7616546" y="10273357"/>
            <a:ext cx="1600282" cy="126276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12C2D706-380B-095D-6651-E204766F6957}"/>
              </a:ext>
            </a:extLst>
          </p:cNvPr>
          <p:cNvSpPr txBox="1"/>
          <p:nvPr/>
        </p:nvSpPr>
        <p:spPr>
          <a:xfrm>
            <a:off x="-8756022" y="3707247"/>
            <a:ext cx="599956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Inability to produce spoken voice communication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D720923-C25D-7A2F-6A80-3C4BAB2C1EF3}"/>
              </a:ext>
            </a:extLst>
          </p:cNvPr>
          <p:cNvSpPr txBox="1"/>
          <p:nvPr/>
        </p:nvSpPr>
        <p:spPr>
          <a:xfrm>
            <a:off x="-10901298" y="4165993"/>
            <a:ext cx="1026292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Cannot use voice calls, voice notes, or standard spoken audio apps.</a:t>
            </a:r>
          </a:p>
          <a:p>
            <a:pPr algn="ctr"/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b="1" dirty="0"/>
              <a:t>Fully rely on text messaging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b="1" dirty="0"/>
              <a:t>Texting is slow and lacks real-time expression</a:t>
            </a:r>
          </a:p>
          <a:p>
            <a:pPr algn="ctr"/>
            <a:endParaRPr lang="en-US" b="1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b="1" dirty="0"/>
              <a:t>mainstream apps do not translate sign language into speech or text automatically.</a:t>
            </a:r>
          </a:p>
          <a:p>
            <a:pPr algn="ctr"/>
            <a:endParaRPr lang="en-US" b="1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791E012-92D4-7E8C-C488-00821E513062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1164" y="8419072"/>
            <a:ext cx="2211123" cy="2765021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D096B1F-A8C5-50CF-0FC9-DED1766368D7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3209" y="-3329740"/>
            <a:ext cx="3858322" cy="217030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3D40161F-7B45-BCF2-F0C8-F744B5AC9563}"/>
              </a:ext>
            </a:extLst>
          </p:cNvPr>
          <p:cNvSpPr txBox="1"/>
          <p:nvPr/>
        </p:nvSpPr>
        <p:spPr>
          <a:xfrm>
            <a:off x="2344221" y="3546762"/>
            <a:ext cx="533872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Hard of Hearing (D/HH)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AF8FA42-D2C2-4510-5EED-A37161553EB0}"/>
              </a:ext>
            </a:extLst>
          </p:cNvPr>
          <p:cNvSpPr txBox="1"/>
          <p:nvPr/>
        </p:nvSpPr>
        <p:spPr>
          <a:xfrm>
            <a:off x="-51849" y="4141343"/>
            <a:ext cx="784199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ctr">
              <a:buFont typeface="Arial" panose="020B0604020202020204" pitchFamily="34" charset="0"/>
              <a:buChar char="•"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Cannot hear incoming voice call audio, meetings, or video audio.</a:t>
            </a:r>
          </a:p>
          <a:p>
            <a:pPr lvl="0" algn="ctr"/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342900" algn="ctr">
              <a:buFont typeface="Arial" panose="020B0604020202020204" pitchFamily="34" charset="0"/>
              <a:buChar char="•"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Mainstream communication apps lack native live captioning overlays for incoming audio.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DF096F92-39EA-DE2D-F4E3-879043CEAECA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5116" y="1031955"/>
            <a:ext cx="4024988" cy="226405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4B5A9782-CD5E-D3D3-B936-B15AD05D107E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911776" y="3637215"/>
            <a:ext cx="3834793" cy="210473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3400306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C4F6F2-95E7-4A6C-566B-A7FE531FA3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ACAD43A-F782-0C78-9DCB-6FAF7755B7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4802"/>
            <a:ext cx="12191999" cy="6967603"/>
          </a:xfrm>
          <a:prstGeom prst="rect">
            <a:avLst/>
          </a:prstGeom>
        </p:spPr>
      </p:pic>
      <p:pic>
        <p:nvPicPr>
          <p:cNvPr id="8" name="Picture 7" descr="مبادرة رواد مصر الرقمية">
            <a:extLst>
              <a:ext uri="{FF2B5EF4-FFF2-40B4-BE49-F238E27FC236}">
                <a16:creationId xmlns:a16="http://schemas.microsoft.com/office/drawing/2014/main" id="{EB8A54AE-EF1E-4CCF-6D8B-DB68A0017B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5906" y="0"/>
            <a:ext cx="1014592" cy="93277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D06232C-736B-F8D0-CC24-48C89EFE5AE2}"/>
              </a:ext>
            </a:extLst>
          </p:cNvPr>
          <p:cNvSpPr txBox="1"/>
          <p:nvPr/>
        </p:nvSpPr>
        <p:spPr>
          <a:xfrm>
            <a:off x="1098327" y="-4284731"/>
            <a:ext cx="9995343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000" dirty="0">
                <a:solidFill>
                  <a:srgbClr val="D3DCE5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An adaptive, multi-modal digital ecosystem that bridges communication gaps for people with diverse disabilities: Deaf/Mute, Blind, Dyslexic, and Aphasic users. Rather than a standalone mobile app, Rafeeq is architected as a lightweight browser extension that injects assistive UI overlays and real-time processing directly into mainstream web communication platforms such as WhatsApp Web and Facebook. meeting users where they already communicate.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AE54089-9940-05FB-D451-0FB6C5B8A8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6" y="-3560203"/>
            <a:ext cx="9144000" cy="2387600"/>
          </a:xfrm>
        </p:spPr>
        <p:txBody>
          <a:bodyPr/>
          <a:lstStyle/>
          <a:p>
            <a:r>
              <a:rPr lang="en-US" b="1" dirty="0">
                <a:solidFill>
                  <a:srgbClr val="D3DCE5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Project Rafeeq </a:t>
            </a:r>
            <a:br>
              <a:rPr lang="en-US" b="1" dirty="0">
                <a:solidFill>
                  <a:srgbClr val="D3DCE5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3400" b="1" dirty="0">
                <a:solidFill>
                  <a:srgbClr val="D3DCE5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First Milestone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28789473-6C8E-99FB-AE8A-892472678F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6" y="-1121210"/>
            <a:ext cx="9144000" cy="1655762"/>
          </a:xfrm>
        </p:spPr>
        <p:txBody>
          <a:bodyPr>
            <a:normAutofit/>
          </a:bodyPr>
          <a:lstStyle/>
          <a:p>
            <a:r>
              <a:rPr lang="en-US" sz="2300" dirty="0">
                <a:solidFill>
                  <a:srgbClr val="D3DCE5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Browser-Based Accessibility Extension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759F3E3-6926-7465-EC50-E337AA24E132}"/>
              </a:ext>
            </a:extLst>
          </p:cNvPr>
          <p:cNvSpPr txBox="1"/>
          <p:nvPr/>
        </p:nvSpPr>
        <p:spPr>
          <a:xfrm>
            <a:off x="1284514" y="4680315"/>
            <a:ext cx="515982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500" b="1" dirty="0">
                <a:latin typeface="Cambria" panose="02040503050406030204" pitchFamily="18" charset="0"/>
                <a:ea typeface="Cambria" panose="02040503050406030204" pitchFamily="18" charset="0"/>
              </a:rPr>
              <a:t>Natural Language Processing (NLP)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83989E-D8B2-AFB0-5278-7499A476ADBA}"/>
              </a:ext>
            </a:extLst>
          </p:cNvPr>
          <p:cNvSpPr txBox="1"/>
          <p:nvPr/>
        </p:nvSpPr>
        <p:spPr>
          <a:xfrm>
            <a:off x="5492469" y="4680315"/>
            <a:ext cx="515982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500" b="1" dirty="0">
                <a:latin typeface="Cambria" panose="02040503050406030204" pitchFamily="18" charset="0"/>
                <a:ea typeface="Cambria" panose="02040503050406030204" pitchFamily="18" charset="0"/>
              </a:rPr>
              <a:t>Computer Vision</a:t>
            </a:r>
          </a:p>
          <a:p>
            <a:pPr algn="ctr"/>
            <a:r>
              <a:rPr lang="en-US" sz="2500" b="1" dirty="0">
                <a:latin typeface="Cambria" panose="02040503050406030204" pitchFamily="18" charset="0"/>
                <a:ea typeface="Cambria" panose="02040503050406030204" pitchFamily="18" charset="0"/>
              </a:rPr>
              <a:t>(CV)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526EBEC-5466-4797-59C7-B140AF902B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424" b="92067" l="3947" r="89944">
                        <a14:foregroundMark x1="39662" y1="21252" x2="29417" y2="10480"/>
                        <a14:foregroundMark x1="29417" y1="10480" x2="12594" y2="10699"/>
                        <a14:foregroundMark x1="12594" y1="10699" x2="20019" y2="25036"/>
                        <a14:foregroundMark x1="20019" y1="25036" x2="31955" y2="25910"/>
                        <a14:foregroundMark x1="58459" y1="10844" x2="47838" y2="9753"/>
                        <a14:foregroundMark x1="89850" y1="34352" x2="87030" y2="41776"/>
                        <a14:foregroundMark x1="9680" y1="13028" x2="24154" y2="7569"/>
                        <a14:foregroundMark x1="4041" y1="13537" x2="5075" y2="13537"/>
                        <a14:foregroundMark x1="79229" y1="89884" x2="59492" y2="95342"/>
                        <a14:foregroundMark x1="59492" y1="95342" x2="39474" y2="95924"/>
                        <a14:foregroundMark x1="39474" y1="95924" x2="20865" y2="92358"/>
                        <a14:foregroundMark x1="20865" y1="92358" x2="67575" y2="90684"/>
                        <a14:foregroundMark x1="67575" y1="90684" x2="46805" y2="90393"/>
                        <a14:foregroundMark x1="46805" y1="90393" x2="68139" y2="92067"/>
                        <a14:foregroundMark x1="68139" y1="92067" x2="24906" y2="87627"/>
                        <a14:foregroundMark x1="24906" y1="87627" x2="78947" y2="8719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4844" y="700973"/>
            <a:ext cx="3081528" cy="397934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099DFD9-693A-E7E2-50E1-F55D9A0C5BA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9835" b="93784" l="9792" r="89911">
                        <a14:foregroundMark x1="45203" y1="46577" x2="27695" y2="38946"/>
                        <a14:foregroundMark x1="27695" y1="38946" x2="18892" y2="28403"/>
                        <a14:foregroundMark x1="18892" y1="28403" x2="34916" y2="19355"/>
                        <a14:foregroundMark x1="34916" y1="19355" x2="42730" y2="37530"/>
                        <a14:foregroundMark x1="42730" y1="37530" x2="17211" y2="32415"/>
                        <a14:foregroundMark x1="17211" y1="32415" x2="27992" y2="21164"/>
                        <a14:foregroundMark x1="27992" y1="21164" x2="34718" y2="42486"/>
                        <a14:foregroundMark x1="15848" y1="19755" x2="15668" y2="19539"/>
                        <a14:foregroundMark x1="34718" y1="42486" x2="17158" y2="21334"/>
                        <a14:foregroundMark x1="60040" y1="11487" x2="42433" y2="10936"/>
                        <a14:foregroundMark x1="42433" y1="10936" x2="62315" y2="9913"/>
                        <a14:foregroundMark x1="62315" y1="9913" x2="62512" y2="10386"/>
                        <a14:foregroundMark x1="14441" y1="90480" x2="33234" y2="92132"/>
                        <a14:foregroundMark x1="33234" y1="92132" x2="74580" y2="90716"/>
                        <a14:foregroundMark x1="74580" y1="90716" x2="84075" y2="91031"/>
                        <a14:foregroundMark x1="19782" y1="93234" x2="58655" y2="93784"/>
                        <a14:foregroundMark x1="58655" y1="93784" x2="84768" y2="93234"/>
                        <a14:foregroundMark x1="43422" y1="35956" x2="60435" y2="29032"/>
                        <a14:foregroundMark x1="60435" y1="29032" x2="41741" y2="21479"/>
                        <a14:foregroundMark x1="41741" y1="21479" x2="61523" y2="23053"/>
                        <a14:foregroundMark x1="61523" y1="23053" x2="42433" y2="18332"/>
                        <a14:foregroundMark x1="42433" y1="18332" x2="61128" y2="21007"/>
                        <a14:foregroundMark x1="61128" y1="21007" x2="61820" y2="21637"/>
                        <a14:backgroundMark x1="14837" y1="17703" x2="14441" y2="19355"/>
                        <a14:backgroundMark x1="15232" y1="19906" x2="15925" y2="2163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1935" y="828424"/>
            <a:ext cx="3063935" cy="385189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43F30D3-A89A-58AF-72BF-2354B7EB20DE}"/>
              </a:ext>
            </a:extLst>
          </p:cNvPr>
          <p:cNvSpPr txBox="1"/>
          <p:nvPr/>
        </p:nvSpPr>
        <p:spPr>
          <a:xfrm>
            <a:off x="3622327" y="-2191319"/>
            <a:ext cx="519248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rgbClr val="D3DCE5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Some Talking About Sickness? (Soft Stuff)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5D0127-F7A4-3CBC-13B4-942934F2A1DA}"/>
              </a:ext>
            </a:extLst>
          </p:cNvPr>
          <p:cNvSpPr txBox="1"/>
          <p:nvPr/>
        </p:nvSpPr>
        <p:spPr>
          <a:xfrm>
            <a:off x="-5601787" y="2916738"/>
            <a:ext cx="132186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>
                <a:latin typeface="Cambria" panose="02040503050406030204" pitchFamily="18" charset="0"/>
                <a:ea typeface="Cambria" panose="02040503050406030204" pitchFamily="18" charset="0"/>
              </a:rPr>
              <a:t>Deaf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2FDD7F-2349-248D-8737-DB4012288D1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812"/>
          <a:stretch>
            <a:fillRect/>
          </a:stretch>
        </p:blipFill>
        <p:spPr>
          <a:xfrm>
            <a:off x="-6242218" y="550906"/>
            <a:ext cx="2067323" cy="2089751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6E4848C-881E-9F7A-C215-468D62207700}"/>
              </a:ext>
            </a:extLst>
          </p:cNvPr>
          <p:cNvSpPr txBox="1"/>
          <p:nvPr/>
        </p:nvSpPr>
        <p:spPr>
          <a:xfrm>
            <a:off x="-6698179" y="3546762"/>
            <a:ext cx="533872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Hard of Hearing (D/HH)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822F379-D6DE-74BE-DD2C-6FA2E099C77E}"/>
              </a:ext>
            </a:extLst>
          </p:cNvPr>
          <p:cNvSpPr txBox="1"/>
          <p:nvPr/>
        </p:nvSpPr>
        <p:spPr>
          <a:xfrm>
            <a:off x="-9094249" y="4141343"/>
            <a:ext cx="784199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ctr">
              <a:buFont typeface="Arial" panose="020B0604020202020204" pitchFamily="34" charset="0"/>
              <a:buChar char="•"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Cannot hear incoming voice call audio, meetings, or video audio.</a:t>
            </a:r>
          </a:p>
          <a:p>
            <a:pPr lvl="0" algn="ctr"/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342900" algn="ctr">
              <a:buFont typeface="Arial" panose="020B0604020202020204" pitchFamily="34" charset="0"/>
              <a:buChar char="•"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Mainstream communication apps lack native live captioning overlays for incoming audio.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3DF96069-7E38-C9AA-EA39-8AE3B29C0DF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5116" y="-3362245"/>
            <a:ext cx="4024988" cy="226405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A7F0C437-6D86-5EAC-059D-4095E71E0C6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11776" y="8298115"/>
            <a:ext cx="3834793" cy="210473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6688396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C8FDD7-0A84-87F0-4E60-31031191B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3D3C8DA-3DA3-A2B4-C605-6C409BDE39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4802"/>
            <a:ext cx="12191999" cy="6967603"/>
          </a:xfrm>
          <a:prstGeom prst="rect">
            <a:avLst/>
          </a:prstGeom>
        </p:spPr>
      </p:pic>
      <p:pic>
        <p:nvPicPr>
          <p:cNvPr id="8" name="Picture 7" descr="مبادرة رواد مصر الرقمية">
            <a:extLst>
              <a:ext uri="{FF2B5EF4-FFF2-40B4-BE49-F238E27FC236}">
                <a16:creationId xmlns:a16="http://schemas.microsoft.com/office/drawing/2014/main" id="{89317A79-99AD-052F-35B0-6B3B4AE3F7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5906" y="0"/>
            <a:ext cx="1014592" cy="93277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F6C07FE-0BED-1C5C-7C07-6439C737AF2C}"/>
              </a:ext>
            </a:extLst>
          </p:cNvPr>
          <p:cNvSpPr txBox="1"/>
          <p:nvPr/>
        </p:nvSpPr>
        <p:spPr>
          <a:xfrm>
            <a:off x="1098327" y="-4284731"/>
            <a:ext cx="9995343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000" dirty="0">
                <a:solidFill>
                  <a:srgbClr val="D3DCE5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An adaptive, multi-modal digital ecosystem that bridges communication gaps for people with diverse disabilities: Deaf/Mute, Blind, Dyslexic, and Aphasic users. Rather than a standalone mobile app, Rafeeq is architected as a lightweight browser extension that injects assistive UI overlays and real-time processing directly into mainstream web communication platforms such as WhatsApp Web and Facebook. meeting users where they already communicate.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2F0AF227-1F0A-7621-6A60-3DBFBEDED0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6" y="-3560203"/>
            <a:ext cx="9144000" cy="2387600"/>
          </a:xfrm>
        </p:spPr>
        <p:txBody>
          <a:bodyPr/>
          <a:lstStyle/>
          <a:p>
            <a:r>
              <a:rPr lang="en-US" b="1" dirty="0">
                <a:solidFill>
                  <a:srgbClr val="D3DCE5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Project Rafeeq </a:t>
            </a:r>
            <a:br>
              <a:rPr lang="en-US" b="1" dirty="0">
                <a:solidFill>
                  <a:srgbClr val="D3DCE5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3400" b="1" dirty="0">
                <a:solidFill>
                  <a:srgbClr val="D3DCE5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First Milestone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B5343301-DEA4-C0E8-2BBC-2118439843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6" y="-1121210"/>
            <a:ext cx="9144000" cy="1655762"/>
          </a:xfrm>
        </p:spPr>
        <p:txBody>
          <a:bodyPr>
            <a:normAutofit/>
          </a:bodyPr>
          <a:lstStyle/>
          <a:p>
            <a:r>
              <a:rPr lang="en-US" sz="2300" dirty="0">
                <a:solidFill>
                  <a:srgbClr val="D3DCE5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Browser-Based Accessibility Extension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711E64B-4BB1-BE71-F172-037573A53F84}"/>
              </a:ext>
            </a:extLst>
          </p:cNvPr>
          <p:cNvSpPr txBox="1"/>
          <p:nvPr/>
        </p:nvSpPr>
        <p:spPr>
          <a:xfrm>
            <a:off x="1284514" y="9970767"/>
            <a:ext cx="515982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500" b="1" dirty="0">
                <a:solidFill>
                  <a:srgbClr val="D3DCE5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Natural Language Processing (NLP)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23516B-40EB-01A5-17D3-777275C80D9F}"/>
              </a:ext>
            </a:extLst>
          </p:cNvPr>
          <p:cNvSpPr txBox="1"/>
          <p:nvPr/>
        </p:nvSpPr>
        <p:spPr>
          <a:xfrm>
            <a:off x="-177930" y="655771"/>
            <a:ext cx="5159829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u="sng" dirty="0">
                <a:latin typeface="Cambria" panose="02040503050406030204" pitchFamily="18" charset="0"/>
                <a:ea typeface="Cambria" panose="02040503050406030204" pitchFamily="18" charset="0"/>
              </a:rPr>
              <a:t>Computer Vision</a:t>
            </a:r>
          </a:p>
          <a:p>
            <a:pPr algn="ctr"/>
            <a:r>
              <a:rPr lang="en-US" sz="400" b="1" u="sng" dirty="0">
                <a:solidFill>
                  <a:srgbClr val="D3DCE5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(CV)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19EED12-2497-BABB-A763-B3FABBA546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424" b="92067" l="3947" r="89944">
                        <a14:foregroundMark x1="39662" y1="21252" x2="29417" y2="10480"/>
                        <a14:foregroundMark x1="29417" y1="10480" x2="12594" y2="10699"/>
                        <a14:foregroundMark x1="12594" y1="10699" x2="20019" y2="25036"/>
                        <a14:foregroundMark x1="20019" y1="25036" x2="31955" y2="25910"/>
                        <a14:foregroundMark x1="58459" y1="10844" x2="47838" y2="9753"/>
                        <a14:foregroundMark x1="89850" y1="34352" x2="87030" y2="41776"/>
                        <a14:foregroundMark x1="9680" y1="13028" x2="24154" y2="7569"/>
                        <a14:foregroundMark x1="4041" y1="13537" x2="5075" y2="13537"/>
                        <a14:foregroundMark x1="79229" y1="89884" x2="59492" y2="95342"/>
                        <a14:foregroundMark x1="59492" y1="95342" x2="39474" y2="95924"/>
                        <a14:foregroundMark x1="39474" y1="95924" x2="20865" y2="92358"/>
                        <a14:foregroundMark x1="20865" y1="92358" x2="67575" y2="90684"/>
                        <a14:foregroundMark x1="67575" y1="90684" x2="46805" y2="90393"/>
                        <a14:foregroundMark x1="46805" y1="90393" x2="68139" y2="92067"/>
                        <a14:foregroundMark x1="68139" y1="92067" x2="24906" y2="87627"/>
                        <a14:foregroundMark x1="24906" y1="87627" x2="78947" y2="8719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9759" y="7275939"/>
            <a:ext cx="1851213" cy="239057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D8B3A4A-4838-4D83-E112-A4AF28005E0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9835" b="93784" l="9792" r="89911">
                        <a14:foregroundMark x1="45203" y1="46577" x2="27695" y2="38946"/>
                        <a14:foregroundMark x1="27695" y1="38946" x2="18892" y2="28403"/>
                        <a14:foregroundMark x1="18892" y1="28403" x2="34916" y2="19355"/>
                        <a14:foregroundMark x1="34916" y1="19355" x2="42730" y2="37530"/>
                        <a14:foregroundMark x1="42730" y1="37530" x2="17211" y2="32415"/>
                        <a14:foregroundMark x1="17211" y1="32415" x2="27992" y2="21164"/>
                        <a14:foregroundMark x1="27992" y1="21164" x2="34718" y2="42486"/>
                        <a14:foregroundMark x1="15848" y1="19755" x2="15668" y2="19539"/>
                        <a14:foregroundMark x1="34718" y1="42486" x2="17158" y2="21334"/>
                        <a14:foregroundMark x1="60040" y1="11487" x2="42433" y2="10936"/>
                        <a14:foregroundMark x1="42433" y1="10936" x2="62315" y2="9913"/>
                        <a14:foregroundMark x1="62315" y1="9913" x2="62512" y2="10386"/>
                        <a14:foregroundMark x1="14441" y1="90480" x2="33234" y2="92132"/>
                        <a14:foregroundMark x1="33234" y1="92132" x2="74580" y2="90716"/>
                        <a14:foregroundMark x1="74580" y1="90716" x2="84075" y2="91031"/>
                        <a14:foregroundMark x1="19782" y1="93234" x2="58655" y2="93784"/>
                        <a14:foregroundMark x1="58655" y1="93784" x2="84768" y2="93234"/>
                        <a14:foregroundMark x1="43422" y1="35956" x2="60435" y2="29032"/>
                        <a14:foregroundMark x1="60435" y1="29032" x2="41741" y2="21479"/>
                        <a14:foregroundMark x1="41741" y1="21479" x2="61523" y2="23053"/>
                        <a14:foregroundMark x1="61523" y1="23053" x2="42433" y2="18332"/>
                        <a14:foregroundMark x1="42433" y1="18332" x2="61128" y2="21007"/>
                        <a14:foregroundMark x1="61128" y1="21007" x2="61820" y2="21637"/>
                        <a14:backgroundMark x1="14837" y1="17703" x2="14441" y2="19355"/>
                        <a14:backgroundMark x1="15232" y1="19906" x2="15925" y2="2163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50053"/>
            <a:ext cx="1358563" cy="170794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4163DA4-D22B-7D18-D418-34E6A69DF17B}"/>
              </a:ext>
            </a:extLst>
          </p:cNvPr>
          <p:cNvSpPr txBox="1"/>
          <p:nvPr/>
        </p:nvSpPr>
        <p:spPr>
          <a:xfrm>
            <a:off x="908462" y="1330198"/>
            <a:ext cx="61870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From Deaf/Mute to Hearing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F1323E4-EB30-4514-8594-089F86BBC517}"/>
              </a:ext>
            </a:extLst>
          </p:cNvPr>
          <p:cNvSpPr txBox="1"/>
          <p:nvPr/>
        </p:nvSpPr>
        <p:spPr>
          <a:xfrm>
            <a:off x="896587" y="1805253"/>
            <a:ext cx="84967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Processing visual sign language gestures locally inside the browser extension.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D2ED796-5E41-0622-2D0D-EEAA26772029}"/>
              </a:ext>
            </a:extLst>
          </p:cNvPr>
          <p:cNvSpPr txBox="1"/>
          <p:nvPr/>
        </p:nvSpPr>
        <p:spPr>
          <a:xfrm>
            <a:off x="679281" y="2291124"/>
            <a:ext cx="8496795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/>
              <a:t>Live Camera &amp; Audio:</a:t>
            </a:r>
            <a:r>
              <a:rPr lang="en-US" dirty="0"/>
              <a:t> The browser extension captures the user's video locally for sign input, and records or receives audio/text from the other person.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/>
              <a:t>Extracting Points:</a:t>
            </a:r>
            <a:r>
              <a:rPr lang="en-US" dirty="0"/>
              <a:t> </a:t>
            </a:r>
            <a:r>
              <a:rPr lang="en-US" dirty="0" err="1"/>
              <a:t>MediaPipe</a:t>
            </a:r>
            <a:r>
              <a:rPr lang="en-US" dirty="0"/>
              <a:t> tracks hand points and body landmarks for sign gestures instead of processing heavy video.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/>
              <a:t>Cleaning Data:</a:t>
            </a:r>
            <a:r>
              <a:rPr lang="en-US" dirty="0"/>
              <a:t> The system adjusts measurements so camera distance does not affect results, and handles text/audio normalization.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/>
              <a:t>Translating Both Ways: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Sign-to-Text:</a:t>
            </a:r>
            <a:r>
              <a:rPr lang="en-US" dirty="0"/>
              <a:t> A small AI model turns hand gestures into words, and an LLM turns those words into a clean sentence for hearing users.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Text/Audio-to-Sign (or Captions):</a:t>
            </a:r>
            <a:r>
              <a:rPr lang="en-US" dirty="0"/>
              <a:t> Processes incoming speech or text via STT to display clear, instant captions for the deaf/mute user.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2E47D4C-76B0-FC8D-F5EC-B64CF00A833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3383" y="2365424"/>
            <a:ext cx="2206956" cy="231828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1392548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2" grpId="0"/>
      <p:bldP spid="1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9C6AF2-5A9B-5EFA-A507-5F27B3BFF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E9B5D13-A1F9-F8F1-5BA4-B230D4ECAD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4802"/>
            <a:ext cx="12191999" cy="6967603"/>
          </a:xfrm>
          <a:prstGeom prst="rect">
            <a:avLst/>
          </a:prstGeom>
        </p:spPr>
      </p:pic>
      <p:pic>
        <p:nvPicPr>
          <p:cNvPr id="8" name="Picture 7" descr="مبادرة رواد مصر الرقمية">
            <a:extLst>
              <a:ext uri="{FF2B5EF4-FFF2-40B4-BE49-F238E27FC236}">
                <a16:creationId xmlns:a16="http://schemas.microsoft.com/office/drawing/2014/main" id="{BAE10EA6-9DC8-FC05-1C1E-3D1E45F237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5906" y="0"/>
            <a:ext cx="1014592" cy="93277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E0B1518-8F5D-E2E6-112D-9E338B4DC027}"/>
              </a:ext>
            </a:extLst>
          </p:cNvPr>
          <p:cNvSpPr txBox="1"/>
          <p:nvPr/>
        </p:nvSpPr>
        <p:spPr>
          <a:xfrm>
            <a:off x="1098327" y="-4284731"/>
            <a:ext cx="9995343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000" dirty="0">
                <a:solidFill>
                  <a:srgbClr val="D3DCE5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An adaptive, multi-modal digital ecosystem that bridges communication gaps for people with diverse disabilities: Deaf/Mute, Blind, Dyslexic, and Aphasic users. Rather than a standalone mobile app, Rafeeq is architected as a lightweight browser extension that injects assistive UI overlays and real-time processing directly into mainstream web communication platforms such as WhatsApp Web and Facebook. meeting users where they already communicate.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73C221C-0672-B147-F287-486E11C5C2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6" y="-3560203"/>
            <a:ext cx="9144000" cy="2387600"/>
          </a:xfrm>
        </p:spPr>
        <p:txBody>
          <a:bodyPr/>
          <a:lstStyle/>
          <a:p>
            <a:r>
              <a:rPr lang="en-US" b="1" dirty="0">
                <a:solidFill>
                  <a:srgbClr val="D3DCE5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Project Rafeeq </a:t>
            </a:r>
            <a:br>
              <a:rPr lang="en-US" b="1" dirty="0">
                <a:solidFill>
                  <a:srgbClr val="D3DCE5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3400" b="1" dirty="0">
                <a:solidFill>
                  <a:srgbClr val="D3DCE5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First Milestone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F55A7D52-04F7-84EE-7ACD-A0DBF8D482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6" y="-1121210"/>
            <a:ext cx="9144000" cy="1655762"/>
          </a:xfrm>
        </p:spPr>
        <p:txBody>
          <a:bodyPr>
            <a:normAutofit/>
          </a:bodyPr>
          <a:lstStyle/>
          <a:p>
            <a:r>
              <a:rPr lang="en-US" sz="2300" dirty="0">
                <a:solidFill>
                  <a:srgbClr val="D3DCE5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Browser-Based Accessibility Extension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E6756AC-B735-3D12-F08F-0885922CBE1D}"/>
              </a:ext>
            </a:extLst>
          </p:cNvPr>
          <p:cNvSpPr txBox="1"/>
          <p:nvPr/>
        </p:nvSpPr>
        <p:spPr>
          <a:xfrm>
            <a:off x="1284514" y="9970767"/>
            <a:ext cx="515982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500" b="1" dirty="0">
                <a:solidFill>
                  <a:srgbClr val="D3DCE5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Natural Language Processing (NLP)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71D466-0BB0-34C7-3784-34D674B17D60}"/>
              </a:ext>
            </a:extLst>
          </p:cNvPr>
          <p:cNvSpPr txBox="1"/>
          <p:nvPr/>
        </p:nvSpPr>
        <p:spPr>
          <a:xfrm>
            <a:off x="-177930" y="655771"/>
            <a:ext cx="5159829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u="sng" dirty="0">
                <a:latin typeface="Cambria" panose="02040503050406030204" pitchFamily="18" charset="0"/>
                <a:ea typeface="Cambria" panose="02040503050406030204" pitchFamily="18" charset="0"/>
              </a:rPr>
              <a:t>Computer Vision</a:t>
            </a:r>
          </a:p>
          <a:p>
            <a:pPr algn="ctr"/>
            <a:r>
              <a:rPr lang="en-US" sz="400" b="1" u="sng" dirty="0">
                <a:solidFill>
                  <a:srgbClr val="D3DCE5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(CV)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D3D1A1B-0ABC-A1E1-E66B-972C19B9BB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424" b="92067" l="3947" r="89944">
                        <a14:foregroundMark x1="39662" y1="21252" x2="29417" y2="10480"/>
                        <a14:foregroundMark x1="29417" y1="10480" x2="12594" y2="10699"/>
                        <a14:foregroundMark x1="12594" y1="10699" x2="20019" y2="25036"/>
                        <a14:foregroundMark x1="20019" y1="25036" x2="31955" y2="25910"/>
                        <a14:foregroundMark x1="58459" y1="10844" x2="47838" y2="9753"/>
                        <a14:foregroundMark x1="89850" y1="34352" x2="87030" y2="41776"/>
                        <a14:foregroundMark x1="9680" y1="13028" x2="24154" y2="7569"/>
                        <a14:foregroundMark x1="4041" y1="13537" x2="5075" y2="13537"/>
                        <a14:foregroundMark x1="79229" y1="89884" x2="59492" y2="95342"/>
                        <a14:foregroundMark x1="59492" y1="95342" x2="39474" y2="95924"/>
                        <a14:foregroundMark x1="39474" y1="95924" x2="20865" y2="92358"/>
                        <a14:foregroundMark x1="20865" y1="92358" x2="67575" y2="90684"/>
                        <a14:foregroundMark x1="67575" y1="90684" x2="46805" y2="90393"/>
                        <a14:foregroundMark x1="46805" y1="90393" x2="68139" y2="92067"/>
                        <a14:foregroundMark x1="68139" y1="92067" x2="24906" y2="87627"/>
                        <a14:foregroundMark x1="24906" y1="87627" x2="78947" y2="8719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9759" y="7275939"/>
            <a:ext cx="1851213" cy="239057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DE5D1BE-B704-37C4-4F06-F2041BB222D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9835" b="93784" l="9792" r="89911">
                        <a14:foregroundMark x1="45203" y1="46577" x2="27695" y2="38946"/>
                        <a14:foregroundMark x1="27695" y1="38946" x2="18892" y2="28403"/>
                        <a14:foregroundMark x1="18892" y1="28403" x2="34916" y2="19355"/>
                        <a14:foregroundMark x1="34916" y1="19355" x2="42730" y2="37530"/>
                        <a14:foregroundMark x1="42730" y1="37530" x2="17211" y2="32415"/>
                        <a14:foregroundMark x1="17211" y1="32415" x2="27992" y2="21164"/>
                        <a14:foregroundMark x1="27992" y1="21164" x2="34718" y2="42486"/>
                        <a14:foregroundMark x1="15848" y1="19755" x2="15668" y2="19539"/>
                        <a14:foregroundMark x1="34718" y1="42486" x2="17158" y2="21334"/>
                        <a14:foregroundMark x1="60040" y1="11487" x2="42433" y2="10936"/>
                        <a14:foregroundMark x1="42433" y1="10936" x2="62315" y2="9913"/>
                        <a14:foregroundMark x1="62315" y1="9913" x2="62512" y2="10386"/>
                        <a14:foregroundMark x1="14441" y1="90480" x2="33234" y2="92132"/>
                        <a14:foregroundMark x1="33234" y1="92132" x2="74580" y2="90716"/>
                        <a14:foregroundMark x1="74580" y1="90716" x2="84075" y2="91031"/>
                        <a14:foregroundMark x1="19782" y1="93234" x2="58655" y2="93784"/>
                        <a14:foregroundMark x1="58655" y1="93784" x2="84768" y2="93234"/>
                        <a14:foregroundMark x1="43422" y1="35956" x2="60435" y2="29032"/>
                        <a14:foregroundMark x1="60435" y1="29032" x2="41741" y2="21479"/>
                        <a14:foregroundMark x1="41741" y1="21479" x2="61523" y2="23053"/>
                        <a14:foregroundMark x1="61523" y1="23053" x2="42433" y2="18332"/>
                        <a14:foregroundMark x1="42433" y1="18332" x2="61128" y2="21007"/>
                        <a14:foregroundMark x1="61128" y1="21007" x2="61820" y2="21637"/>
                        <a14:backgroundMark x1="14837" y1="17703" x2="14441" y2="19355"/>
                        <a14:backgroundMark x1="15232" y1="19906" x2="15925" y2="2163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50053"/>
            <a:ext cx="1358563" cy="170794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0DA4E8E-60FE-B396-52D7-D2E6D74EAEA9}"/>
              </a:ext>
            </a:extLst>
          </p:cNvPr>
          <p:cNvSpPr txBox="1"/>
          <p:nvPr/>
        </p:nvSpPr>
        <p:spPr>
          <a:xfrm>
            <a:off x="-9149433" y="1330198"/>
            <a:ext cx="61870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From Deaf/Mute to Hearing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5D435BE-FB49-BD41-9E09-07ED84E0DECB}"/>
              </a:ext>
            </a:extLst>
          </p:cNvPr>
          <p:cNvSpPr txBox="1"/>
          <p:nvPr/>
        </p:nvSpPr>
        <p:spPr>
          <a:xfrm>
            <a:off x="-9161308" y="1805253"/>
            <a:ext cx="84967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Processing visual sign language gestures locally inside the browser extension.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AE4BB69-9A5B-F748-156D-B22806ABCC4E}"/>
              </a:ext>
            </a:extLst>
          </p:cNvPr>
          <p:cNvSpPr txBox="1"/>
          <p:nvPr/>
        </p:nvSpPr>
        <p:spPr>
          <a:xfrm>
            <a:off x="-9378614" y="2291124"/>
            <a:ext cx="8496795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/>
              <a:t>Live Camera:</a:t>
            </a:r>
            <a:r>
              <a:rPr lang="en-US" dirty="0"/>
              <a:t> The browser extension uses the webcam to capture video locally, keeping user data private. </a:t>
            </a:r>
          </a:p>
          <a:p>
            <a:pPr lvl="0"/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/>
              <a:t>Extracting Points:</a:t>
            </a:r>
            <a:r>
              <a:rPr lang="en-US" dirty="0"/>
              <a:t> </a:t>
            </a:r>
            <a:r>
              <a:rPr lang="en-US" dirty="0" err="1"/>
              <a:t>MediaPipe</a:t>
            </a:r>
            <a:r>
              <a:rPr lang="en-US" dirty="0"/>
              <a:t> tracks hand points and body landmarks instead of processing heavy video. </a:t>
            </a:r>
          </a:p>
          <a:p>
            <a:pPr lvl="0"/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/>
              <a:t>Cleaning Data:</a:t>
            </a:r>
            <a:r>
              <a:rPr lang="en-US" dirty="0"/>
              <a:t> The system adjusts measurements so camera distance does not affect results. </a:t>
            </a:r>
          </a:p>
          <a:p>
            <a:pPr lvl="0"/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/>
              <a:t>Turning to Text:</a:t>
            </a:r>
            <a:r>
              <a:rPr lang="en-US" dirty="0"/>
              <a:t> A small AI model turns the hand gestures into words, and an LLM turns those words into a clean sentence.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D1D752-6282-F96B-1B61-CC76258021E9}"/>
              </a:ext>
            </a:extLst>
          </p:cNvPr>
          <p:cNvSpPr txBox="1"/>
          <p:nvPr/>
        </p:nvSpPr>
        <p:spPr>
          <a:xfrm>
            <a:off x="848638" y="1463469"/>
            <a:ext cx="1334648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Dataset Strategy: Egyptian Core, ASL Pretraining, &amp; Letters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F3508B-5DAF-CFFD-F287-106AA1538FA8}"/>
              </a:ext>
            </a:extLst>
          </p:cNvPr>
          <p:cNvSpPr txBox="1"/>
          <p:nvPr/>
        </p:nvSpPr>
        <p:spPr>
          <a:xfrm>
            <a:off x="848638" y="2022009"/>
            <a:ext cx="133464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Balancing local sign language relevance with robust model training and alphabet support.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510EFA1-10A0-F8B9-FF37-087B685F37ED}"/>
              </a:ext>
            </a:extLst>
          </p:cNvPr>
          <p:cNvSpPr txBox="1"/>
          <p:nvPr/>
        </p:nvSpPr>
        <p:spPr>
          <a:xfrm>
            <a:off x="848638" y="2391341"/>
            <a:ext cx="7794321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-342900">
              <a:buFont typeface="Arial" panose="020B0604020202020204" pitchFamily="34" charset="0"/>
              <a:buChar char="•"/>
            </a:pPr>
            <a:r>
              <a:rPr lang="en-US" b="1" dirty="0">
                <a:effectLst/>
                <a:latin typeface="+mn-lt"/>
              </a:rPr>
              <a:t>Primary Core (Egyptian Sign Language):</a:t>
            </a:r>
            <a:r>
              <a:rPr lang="en-US" dirty="0">
                <a:effectLst/>
                <a:latin typeface="+mn-lt"/>
              </a:rPr>
              <a:t> Relies on the </a:t>
            </a:r>
            <a:r>
              <a:rPr lang="en-US" dirty="0">
                <a:effectLst/>
                <a:latin typeface="+mn-lt"/>
                <a:hlinkClick r:id="rId8"/>
              </a:rPr>
              <a:t>Mendeley ESL Dataset</a:t>
            </a:r>
            <a:r>
              <a:rPr lang="en-US" dirty="0">
                <a:effectLst/>
                <a:latin typeface="+mn-lt"/>
              </a:rPr>
              <a:t> containing 55 common words across 550 videos recorded by a native signer. </a:t>
            </a:r>
          </a:p>
          <a:p>
            <a:pPr marR="0" lvl="0"/>
            <a:endParaRPr lang="en-US" dirty="0">
              <a:effectLst/>
              <a:latin typeface="+mn-lt"/>
            </a:endParaRPr>
          </a:p>
          <a:p>
            <a:pPr marL="0" marR="0" lvl="0" indent="-342900">
              <a:buFont typeface="Arial" panose="020B0604020202020204" pitchFamily="34" charset="0"/>
              <a:buChar char="•"/>
            </a:pPr>
            <a:r>
              <a:rPr lang="en-US" b="1" dirty="0">
                <a:effectLst/>
                <a:latin typeface="+mn-lt"/>
              </a:rPr>
              <a:t>ASL Pretraining Safety Path:</a:t>
            </a:r>
            <a:r>
              <a:rPr lang="en-US" dirty="0">
                <a:effectLst/>
                <a:latin typeface="+mn-lt"/>
              </a:rPr>
              <a:t> Uses American Sign Language datasets like </a:t>
            </a:r>
            <a:r>
              <a:rPr lang="en-US" dirty="0">
                <a:effectLst/>
                <a:latin typeface="+mn-lt"/>
                <a:hlinkClick r:id="rId9"/>
              </a:rPr>
              <a:t>ASL Citizen (Microsoft Research)</a:t>
            </a:r>
            <a:r>
              <a:rPr lang="en-US" dirty="0">
                <a:effectLst/>
                <a:latin typeface="+mn-lt"/>
              </a:rPr>
              <a:t> and </a:t>
            </a:r>
            <a:r>
              <a:rPr lang="en-US" dirty="0">
                <a:effectLst/>
                <a:latin typeface="+mn-lt"/>
                <a:hlinkClick r:id="rId10"/>
              </a:rPr>
              <a:t>Kaggle ASL Signs</a:t>
            </a:r>
            <a:r>
              <a:rPr lang="en-US" dirty="0">
                <a:effectLst/>
                <a:latin typeface="+mn-lt"/>
              </a:rPr>
              <a:t> for pretraining to learn general hand movements and provide a reliable fallback demo. </a:t>
            </a:r>
          </a:p>
          <a:p>
            <a:pPr marR="0" lvl="0"/>
            <a:endParaRPr lang="en-US" dirty="0">
              <a:effectLst/>
              <a:latin typeface="+mn-lt"/>
            </a:endParaRPr>
          </a:p>
          <a:p>
            <a:pPr marL="0" marR="0" lvl="0" indent="-342900">
              <a:buFont typeface="Arial" panose="020B0604020202020204" pitchFamily="34" charset="0"/>
              <a:buChar char="•"/>
            </a:pPr>
            <a:r>
              <a:rPr lang="en-US" b="1" dirty="0">
                <a:effectLst/>
                <a:latin typeface="+mn-lt"/>
              </a:rPr>
              <a:t>Optional Alphabet Support:</a:t>
            </a:r>
            <a:r>
              <a:rPr lang="en-US" dirty="0">
                <a:effectLst/>
                <a:latin typeface="+mn-lt"/>
              </a:rPr>
              <a:t> Integrates the </a:t>
            </a:r>
            <a:r>
              <a:rPr lang="en-US" dirty="0">
                <a:effectLst/>
                <a:latin typeface="+mn-lt"/>
                <a:hlinkClick r:id="rId11"/>
              </a:rPr>
              <a:t>ArASL2018 Dataset</a:t>
            </a:r>
            <a:r>
              <a:rPr lang="en-US" dirty="0">
                <a:effectLst/>
                <a:latin typeface="+mn-lt"/>
              </a:rPr>
              <a:t> (featuring over 54,000 images across 32 letters) to support fingerspelling words or names letter-by-letter. </a:t>
            </a:r>
          </a:p>
          <a:p>
            <a:pPr marR="0" lvl="0"/>
            <a:endParaRPr lang="en-US" dirty="0">
              <a:effectLst/>
              <a:latin typeface="+mn-lt"/>
            </a:endParaRPr>
          </a:p>
          <a:p>
            <a:pPr marL="0" marR="0" lvl="0" indent="-342900">
              <a:buFont typeface="Arial" panose="020B0604020202020204" pitchFamily="34" charset="0"/>
              <a:buChar char="•"/>
            </a:pPr>
            <a:r>
              <a:rPr lang="en-US" b="1" dirty="0">
                <a:effectLst/>
                <a:latin typeface="+mn-lt"/>
              </a:rPr>
              <a:t>Team Testing:</a:t>
            </a:r>
            <a:r>
              <a:rPr lang="en-US" dirty="0">
                <a:effectLst/>
                <a:latin typeface="+mn-lt"/>
              </a:rPr>
              <a:t> Generalization is tested using recordings of project team members mimicking signs under different lighting and camera setups. </a:t>
            </a:r>
            <a:endParaRPr lang="en-US" dirty="0">
              <a:effectLst/>
              <a:latin typeface="Google Sans Text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F095C527-6105-530E-9896-3D89903023B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617907" y="2522645"/>
            <a:ext cx="3522161" cy="136247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85F22050-C0F2-4981-B0FE-80D5CC2D783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859423" y="4187799"/>
            <a:ext cx="3161075" cy="89181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48B4F77-2D82-7437-E1DB-EC2F366FFD6E}"/>
              </a:ext>
            </a:extLst>
          </p:cNvPr>
          <p:cNvSpPr txBox="1"/>
          <p:nvPr/>
        </p:nvSpPr>
        <p:spPr>
          <a:xfrm>
            <a:off x="-9917715" y="2291124"/>
            <a:ext cx="8496795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/>
              <a:t>Live Camera &amp; Audio:</a:t>
            </a:r>
            <a:r>
              <a:rPr lang="en-US" dirty="0"/>
              <a:t> The browser extension captures the user's video locally for sign input, and records or receives audio/text from the other person.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/>
              <a:t>Extracting Points:</a:t>
            </a:r>
            <a:r>
              <a:rPr lang="en-US" dirty="0"/>
              <a:t> </a:t>
            </a:r>
            <a:r>
              <a:rPr lang="en-US" dirty="0" err="1"/>
              <a:t>MediaPipe</a:t>
            </a:r>
            <a:r>
              <a:rPr lang="en-US" dirty="0"/>
              <a:t> tracks hand points and body landmarks for sign gestures instead of processing heavy video.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/>
              <a:t>Cleaning Data:</a:t>
            </a:r>
            <a:r>
              <a:rPr lang="en-US" dirty="0"/>
              <a:t> The system adjusts measurements so camera distance does not affect results, and handles text/audio normalization.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/>
              <a:t>Translating Both Ways: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Sign-to-Text:</a:t>
            </a:r>
            <a:r>
              <a:rPr lang="en-US" dirty="0"/>
              <a:t> A small AI model turns hand gestures into words, and an LLM turns those words into a clean sentence for hearing users.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Text/Audio-to-Sign (or Captions):</a:t>
            </a:r>
            <a:r>
              <a:rPr lang="en-US" dirty="0"/>
              <a:t> Processes incoming speech or text via STT to display clear, instant captions for the deaf/mute user.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BA062A2-FA21-F738-6E5B-5410CE4686D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76859" y="2365424"/>
            <a:ext cx="2206956" cy="231828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378026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7" grpId="0"/>
      <p:bldP spid="2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B1A2EA-C638-F34A-DE62-1AFB0FFE9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F86AD64-9AD1-4D5A-AEC8-D19B3C4D20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4802"/>
            <a:ext cx="12191999" cy="6967603"/>
          </a:xfrm>
          <a:prstGeom prst="rect">
            <a:avLst/>
          </a:prstGeom>
        </p:spPr>
      </p:pic>
      <p:pic>
        <p:nvPicPr>
          <p:cNvPr id="8" name="Picture 7" descr="مبادرة رواد مصر الرقمية">
            <a:extLst>
              <a:ext uri="{FF2B5EF4-FFF2-40B4-BE49-F238E27FC236}">
                <a16:creationId xmlns:a16="http://schemas.microsoft.com/office/drawing/2014/main" id="{888E9660-B761-CB37-46BF-03A24B2B11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5906" y="0"/>
            <a:ext cx="1014592" cy="93277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9938D98-0BDC-E7C5-A570-72870CAEFE0D}"/>
              </a:ext>
            </a:extLst>
          </p:cNvPr>
          <p:cNvSpPr txBox="1"/>
          <p:nvPr/>
        </p:nvSpPr>
        <p:spPr>
          <a:xfrm>
            <a:off x="1098327" y="-4284731"/>
            <a:ext cx="9995343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000" dirty="0">
                <a:solidFill>
                  <a:srgbClr val="D3DCE5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An adaptive, multi-modal digital ecosystem that bridges communication gaps for people with diverse disabilities: Deaf/Mute, Blind, Dyslexic, and Aphasic users. Rather than a standalone mobile app, Rafeeq is architected as a lightweight browser extension that injects assistive UI overlays and real-time processing directly into mainstream web communication platforms such as WhatsApp Web and Facebook. meeting users where they already communicate.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451E04FB-E1FA-F5AC-8AD0-9955799D0E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6" y="-3560203"/>
            <a:ext cx="9144000" cy="2387600"/>
          </a:xfrm>
        </p:spPr>
        <p:txBody>
          <a:bodyPr/>
          <a:lstStyle/>
          <a:p>
            <a:r>
              <a:rPr lang="en-US" b="1" dirty="0">
                <a:solidFill>
                  <a:srgbClr val="D3DCE5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Project Rafeeq </a:t>
            </a:r>
            <a:br>
              <a:rPr lang="en-US" b="1" dirty="0">
                <a:solidFill>
                  <a:srgbClr val="D3DCE5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3400" b="1" dirty="0">
                <a:solidFill>
                  <a:srgbClr val="D3DCE5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First Milestone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EDB319BB-F129-8C32-2B55-D2AEA4AC7E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6" y="-1121210"/>
            <a:ext cx="9144000" cy="1655762"/>
          </a:xfrm>
        </p:spPr>
        <p:txBody>
          <a:bodyPr>
            <a:normAutofit/>
          </a:bodyPr>
          <a:lstStyle/>
          <a:p>
            <a:r>
              <a:rPr lang="en-US" sz="2300" dirty="0">
                <a:solidFill>
                  <a:srgbClr val="D3DCE5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Browser-Based Accessibility Extension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2A2F6E2-D150-35A7-F9CE-6F3E44F20FB1}"/>
              </a:ext>
            </a:extLst>
          </p:cNvPr>
          <p:cNvSpPr txBox="1"/>
          <p:nvPr/>
        </p:nvSpPr>
        <p:spPr>
          <a:xfrm>
            <a:off x="378330" y="701830"/>
            <a:ext cx="580208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u="sng" dirty="0">
                <a:latin typeface="Cambria" panose="02040503050406030204" pitchFamily="18" charset="0"/>
                <a:ea typeface="Cambria" panose="02040503050406030204" pitchFamily="18" charset="0"/>
              </a:rPr>
              <a:t>Natural Language Processing</a:t>
            </a:r>
            <a:r>
              <a:rPr lang="en-US" sz="3000" b="1" u="sng" dirty="0">
                <a:solidFill>
                  <a:srgbClr val="D3DCE5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300" b="1" u="sng" dirty="0">
                <a:solidFill>
                  <a:srgbClr val="D3DCE5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(NLP)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534AFD5-2FF3-0FF6-83B7-2DDDA0B989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424" b="92067" l="3947" r="89944">
                        <a14:foregroundMark x1="39662" y1="21252" x2="29417" y2="10480"/>
                        <a14:foregroundMark x1="29417" y1="10480" x2="12594" y2="10699"/>
                        <a14:foregroundMark x1="12594" y1="10699" x2="20019" y2="25036"/>
                        <a14:foregroundMark x1="20019" y1="25036" x2="31955" y2="25910"/>
                        <a14:foregroundMark x1="58459" y1="10844" x2="47838" y2="9753"/>
                        <a14:foregroundMark x1="89850" y1="34352" x2="87030" y2="41776"/>
                        <a14:foregroundMark x1="9680" y1="13028" x2="24154" y2="7569"/>
                        <a14:foregroundMark x1="4041" y1="13537" x2="5075" y2="13537"/>
                        <a14:foregroundMark x1="79229" y1="89884" x2="59492" y2="95342"/>
                        <a14:foregroundMark x1="59492" y1="95342" x2="39474" y2="95924"/>
                        <a14:foregroundMark x1="39474" y1="95924" x2="20865" y2="92358"/>
                        <a14:foregroundMark x1="20865" y1="92358" x2="67575" y2="90684"/>
                        <a14:foregroundMark x1="67575" y1="90684" x2="46805" y2="90393"/>
                        <a14:foregroundMark x1="46805" y1="90393" x2="68139" y2="92067"/>
                        <a14:foregroundMark x1="68139" y1="92067" x2="24906" y2="87627"/>
                        <a14:foregroundMark x1="24906" y1="87627" x2="78947" y2="8719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088" y="5204854"/>
            <a:ext cx="1322602" cy="170794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9AF46B6-B7C8-4CD6-F48B-2FD2B6E256CA}"/>
              </a:ext>
            </a:extLst>
          </p:cNvPr>
          <p:cNvSpPr txBox="1"/>
          <p:nvPr/>
        </p:nvSpPr>
        <p:spPr>
          <a:xfrm>
            <a:off x="-10900186" y="655771"/>
            <a:ext cx="5159829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u="sng" dirty="0">
                <a:latin typeface="Cambria" panose="02040503050406030204" pitchFamily="18" charset="0"/>
                <a:ea typeface="Cambria" panose="02040503050406030204" pitchFamily="18" charset="0"/>
              </a:rPr>
              <a:t>Computer Vision</a:t>
            </a:r>
          </a:p>
          <a:p>
            <a:pPr algn="ctr"/>
            <a:r>
              <a:rPr lang="en-US" sz="400" b="1" u="sng" dirty="0">
                <a:solidFill>
                  <a:srgbClr val="D3DCE5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(CV)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1631ADE-D607-3ED3-A66B-233FD61769A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9835" b="93784" l="9792" r="89911">
                        <a14:foregroundMark x1="45203" y1="46577" x2="27695" y2="38946"/>
                        <a14:foregroundMark x1="27695" y1="38946" x2="18892" y2="28403"/>
                        <a14:foregroundMark x1="18892" y1="28403" x2="34916" y2="19355"/>
                        <a14:foregroundMark x1="34916" y1="19355" x2="42730" y2="37530"/>
                        <a14:foregroundMark x1="42730" y1="37530" x2="17211" y2="32415"/>
                        <a14:foregroundMark x1="17211" y1="32415" x2="27992" y2="21164"/>
                        <a14:foregroundMark x1="27992" y1="21164" x2="34718" y2="42486"/>
                        <a14:foregroundMark x1="15848" y1="19755" x2="15668" y2="19539"/>
                        <a14:foregroundMark x1="34718" y1="42486" x2="17158" y2="21334"/>
                        <a14:foregroundMark x1="60040" y1="11487" x2="42433" y2="10936"/>
                        <a14:foregroundMark x1="42433" y1="10936" x2="62315" y2="9913"/>
                        <a14:foregroundMark x1="62315" y1="9913" x2="62512" y2="10386"/>
                        <a14:foregroundMark x1="14441" y1="90480" x2="33234" y2="92132"/>
                        <a14:foregroundMark x1="33234" y1="92132" x2="74580" y2="90716"/>
                        <a14:foregroundMark x1="74580" y1="90716" x2="84075" y2="91031"/>
                        <a14:foregroundMark x1="19782" y1="93234" x2="58655" y2="93784"/>
                        <a14:foregroundMark x1="58655" y1="93784" x2="84768" y2="93234"/>
                        <a14:foregroundMark x1="43422" y1="35956" x2="60435" y2="29032"/>
                        <a14:foregroundMark x1="60435" y1="29032" x2="41741" y2="21479"/>
                        <a14:foregroundMark x1="41741" y1="21479" x2="61523" y2="23053"/>
                        <a14:foregroundMark x1="61523" y1="23053" x2="42433" y2="18332"/>
                        <a14:foregroundMark x1="42433" y1="18332" x2="61128" y2="21007"/>
                        <a14:foregroundMark x1="61128" y1="21007" x2="61820" y2="21637"/>
                        <a14:backgroundMark x1="14837" y1="17703" x2="14441" y2="19355"/>
                        <a14:backgroundMark x1="15232" y1="19906" x2="15925" y2="2163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722256" y="5150053"/>
            <a:ext cx="1358563" cy="170794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86EF025-10B2-FCC1-42B4-CBC9C61DFFD1}"/>
              </a:ext>
            </a:extLst>
          </p:cNvPr>
          <p:cNvSpPr txBox="1"/>
          <p:nvPr/>
        </p:nvSpPr>
        <p:spPr>
          <a:xfrm>
            <a:off x="-9851717" y="1342629"/>
            <a:ext cx="143297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>
                <a:latin typeface="Cambria" panose="02040503050406030204" pitchFamily="18" charset="0"/>
                <a:ea typeface="Cambria" panose="02040503050406030204" pitchFamily="18" charset="0"/>
              </a:rPr>
              <a:t>Edge Deployment &amp; Performance Targets</a:t>
            </a:r>
            <a:endParaRPr lang="en-US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77871FF-F654-935F-3E3D-40375B693C9B}"/>
              </a:ext>
            </a:extLst>
          </p:cNvPr>
          <p:cNvSpPr txBox="1"/>
          <p:nvPr/>
        </p:nvSpPr>
        <p:spPr>
          <a:xfrm>
            <a:off x="-9897642" y="1857385"/>
            <a:ext cx="143297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Lightweight, real-time execution directly inside the browser.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E8D90D1-24FD-E4A8-A5E0-4897E6AB6701}"/>
              </a:ext>
            </a:extLst>
          </p:cNvPr>
          <p:cNvSpPr txBox="1"/>
          <p:nvPr/>
        </p:nvSpPr>
        <p:spPr>
          <a:xfrm>
            <a:off x="-9897643" y="2470126"/>
            <a:ext cx="959704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-342900">
              <a:buFont typeface="Arial" panose="020B0604020202020204" pitchFamily="34" charset="0"/>
              <a:buChar char="•"/>
            </a:pPr>
            <a:r>
              <a:rPr lang="en-US" b="1" dirty="0">
                <a:effectLst/>
                <a:latin typeface="+mn-lt"/>
              </a:rPr>
              <a:t>Why Landmarks?</a:t>
            </a:r>
            <a:r>
              <a:rPr lang="en-US" dirty="0">
                <a:effectLst/>
                <a:latin typeface="+mn-lt"/>
              </a:rPr>
              <a:t> Using extracted landmark points instead of heavy raw video requires less data, ignores background/skin color changes, and keeps user video completely private.</a:t>
            </a:r>
          </a:p>
          <a:p>
            <a:pPr marR="0" lvl="0"/>
            <a:endParaRPr lang="en-US" dirty="0">
              <a:effectLst/>
              <a:latin typeface="+mn-lt"/>
            </a:endParaRPr>
          </a:p>
          <a:p>
            <a:pPr marL="0" marR="0" lvl="0" indent="-342900">
              <a:buFont typeface="Arial" panose="020B0604020202020204" pitchFamily="34" charset="0"/>
              <a:buChar char="•"/>
            </a:pPr>
            <a:r>
              <a:rPr lang="en-US" b="1" dirty="0">
                <a:effectLst/>
                <a:latin typeface="+mn-lt"/>
              </a:rPr>
              <a:t>Web Deployment:</a:t>
            </a:r>
            <a:r>
              <a:rPr lang="en-US" dirty="0">
                <a:effectLst/>
                <a:latin typeface="+mn-lt"/>
              </a:rPr>
              <a:t> Models are converted using </a:t>
            </a:r>
            <a:r>
              <a:rPr lang="en-US" b="1" dirty="0">
                <a:effectLst/>
                <a:latin typeface="+mn-lt"/>
              </a:rPr>
              <a:t>TensorFlow.js</a:t>
            </a:r>
            <a:r>
              <a:rPr lang="en-US" dirty="0">
                <a:effectLst/>
                <a:latin typeface="+mn-lt"/>
              </a:rPr>
              <a:t> or </a:t>
            </a:r>
            <a:r>
              <a:rPr lang="en-US" b="1" dirty="0">
                <a:effectLst/>
                <a:latin typeface="+mn-lt"/>
              </a:rPr>
              <a:t>ONNX Runtime Web</a:t>
            </a:r>
            <a:r>
              <a:rPr lang="en-US" dirty="0">
                <a:effectLst/>
                <a:latin typeface="+mn-lt"/>
              </a:rPr>
              <a:t> to run smoothly inside the browser extension. </a:t>
            </a:r>
          </a:p>
          <a:p>
            <a:pPr marR="0" lvl="0"/>
            <a:endParaRPr lang="en-US" dirty="0">
              <a:effectLst/>
              <a:latin typeface="+mn-lt"/>
            </a:endParaRPr>
          </a:p>
          <a:p>
            <a:pPr marL="0" marR="0" lvl="0" indent="-342900">
              <a:buFont typeface="Arial" panose="020B0604020202020204" pitchFamily="34" charset="0"/>
              <a:buChar char="•"/>
            </a:pPr>
            <a:r>
              <a:rPr lang="en-US" b="1" dirty="0">
                <a:effectLst/>
                <a:latin typeface="+mn-lt"/>
              </a:rPr>
              <a:t>Performance Target:</a:t>
            </a:r>
            <a:r>
              <a:rPr lang="en-US" dirty="0">
                <a:effectLst/>
                <a:latin typeface="+mn-lt"/>
              </a:rPr>
              <a:t> Designed to deliver fast results in under half a second at 15+ frames per second (FPS).</a:t>
            </a:r>
            <a:endParaRPr lang="en-US" dirty="0">
              <a:effectLst/>
              <a:latin typeface="Google Sans Text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8C0DA2B2-E440-79E5-AE1A-F54D5BEC992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34322" y="10510634"/>
            <a:ext cx="5626797" cy="4489466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6CF52326-36B1-C65A-ED18-E1FCB12E805E}"/>
              </a:ext>
            </a:extLst>
          </p:cNvPr>
          <p:cNvSpPr txBox="1"/>
          <p:nvPr/>
        </p:nvSpPr>
        <p:spPr>
          <a:xfrm>
            <a:off x="5786120" y="15281398"/>
            <a:ext cx="9296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Extension</a:t>
            </a:r>
            <a:endParaRPr lang="en-US" sz="20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8F932DF-E628-4911-594D-8AFAA35D78B4}"/>
              </a:ext>
            </a:extLst>
          </p:cNvPr>
          <p:cNvSpPr txBox="1"/>
          <p:nvPr/>
        </p:nvSpPr>
        <p:spPr>
          <a:xfrm>
            <a:off x="1797270" y="-3093928"/>
            <a:ext cx="94619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System Workflow: Browser Extension &amp; Website</a:t>
            </a:r>
            <a:endParaRPr lang="en-US" sz="3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33A913C-D36D-9F8F-DF43-E11BD1915ABB}"/>
              </a:ext>
            </a:extLst>
          </p:cNvPr>
          <p:cNvSpPr txBox="1"/>
          <p:nvPr/>
        </p:nvSpPr>
        <p:spPr>
          <a:xfrm>
            <a:off x="-10875698" y="1463469"/>
            <a:ext cx="1334648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Dataset Strategy: Egyptian Core, ASL Pretraining, &amp; Letters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59CA8CA-360D-43BF-7804-7BB2A7A321FC}"/>
              </a:ext>
            </a:extLst>
          </p:cNvPr>
          <p:cNvSpPr txBox="1"/>
          <p:nvPr/>
        </p:nvSpPr>
        <p:spPr>
          <a:xfrm>
            <a:off x="-10875698" y="2022009"/>
            <a:ext cx="133464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Balancing local sign language relevance with robust model training and alphabet support.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E09D08E-D622-FB92-0870-61CB25F1259D}"/>
              </a:ext>
            </a:extLst>
          </p:cNvPr>
          <p:cNvSpPr txBox="1"/>
          <p:nvPr/>
        </p:nvSpPr>
        <p:spPr>
          <a:xfrm>
            <a:off x="-10875698" y="2391341"/>
            <a:ext cx="7794321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-342900">
              <a:buFont typeface="Arial" panose="020B0604020202020204" pitchFamily="34" charset="0"/>
              <a:buChar char="•"/>
            </a:pPr>
            <a:r>
              <a:rPr lang="en-US" b="1" dirty="0">
                <a:effectLst/>
                <a:latin typeface="+mn-lt"/>
              </a:rPr>
              <a:t>Primary Core (Egyptian Sign Language):</a:t>
            </a:r>
            <a:r>
              <a:rPr lang="en-US" dirty="0">
                <a:effectLst/>
                <a:latin typeface="+mn-lt"/>
              </a:rPr>
              <a:t> Relies on the </a:t>
            </a:r>
            <a:r>
              <a:rPr lang="en-US" dirty="0">
                <a:effectLst/>
                <a:latin typeface="+mn-lt"/>
                <a:hlinkClick r:id="rId9"/>
              </a:rPr>
              <a:t>Mendeley ESL Dataset</a:t>
            </a:r>
            <a:r>
              <a:rPr lang="en-US" dirty="0">
                <a:effectLst/>
                <a:latin typeface="+mn-lt"/>
              </a:rPr>
              <a:t> containing 55 common words across 550 videos recorded by a native signer. </a:t>
            </a:r>
          </a:p>
          <a:p>
            <a:pPr marR="0" lvl="0"/>
            <a:endParaRPr lang="en-US" dirty="0">
              <a:effectLst/>
              <a:latin typeface="+mn-lt"/>
            </a:endParaRPr>
          </a:p>
          <a:p>
            <a:pPr marL="0" marR="0" lvl="0" indent="-342900">
              <a:buFont typeface="Arial" panose="020B0604020202020204" pitchFamily="34" charset="0"/>
              <a:buChar char="•"/>
            </a:pPr>
            <a:r>
              <a:rPr lang="en-US" b="1" dirty="0">
                <a:effectLst/>
                <a:latin typeface="+mn-lt"/>
              </a:rPr>
              <a:t>ASL Pretraining Safety Path:</a:t>
            </a:r>
            <a:r>
              <a:rPr lang="en-US" dirty="0">
                <a:effectLst/>
                <a:latin typeface="+mn-lt"/>
              </a:rPr>
              <a:t> Uses American Sign Language datasets like </a:t>
            </a:r>
            <a:r>
              <a:rPr lang="en-US" dirty="0">
                <a:effectLst/>
                <a:latin typeface="+mn-lt"/>
                <a:hlinkClick r:id="rId10"/>
              </a:rPr>
              <a:t>ASL Citizen (Microsoft Research)</a:t>
            </a:r>
            <a:r>
              <a:rPr lang="en-US" dirty="0">
                <a:effectLst/>
                <a:latin typeface="+mn-lt"/>
              </a:rPr>
              <a:t> and </a:t>
            </a:r>
            <a:r>
              <a:rPr lang="en-US" dirty="0">
                <a:effectLst/>
                <a:latin typeface="+mn-lt"/>
                <a:hlinkClick r:id="rId11"/>
              </a:rPr>
              <a:t>Kaggle ASL Signs</a:t>
            </a:r>
            <a:r>
              <a:rPr lang="en-US" dirty="0">
                <a:effectLst/>
                <a:latin typeface="+mn-lt"/>
              </a:rPr>
              <a:t> for pretraining to learn general hand movements and provide a reliable fallback demo. </a:t>
            </a:r>
          </a:p>
          <a:p>
            <a:pPr marR="0" lvl="0"/>
            <a:endParaRPr lang="en-US" dirty="0">
              <a:effectLst/>
              <a:latin typeface="+mn-lt"/>
            </a:endParaRPr>
          </a:p>
          <a:p>
            <a:pPr marL="0" marR="0" lvl="0" indent="-342900">
              <a:buFont typeface="Arial" panose="020B0604020202020204" pitchFamily="34" charset="0"/>
              <a:buChar char="•"/>
            </a:pPr>
            <a:r>
              <a:rPr lang="en-US" b="1" dirty="0">
                <a:effectLst/>
                <a:latin typeface="+mn-lt"/>
              </a:rPr>
              <a:t>Optional Alphabet Support:</a:t>
            </a:r>
            <a:r>
              <a:rPr lang="en-US" dirty="0">
                <a:effectLst/>
                <a:latin typeface="+mn-lt"/>
              </a:rPr>
              <a:t> Integrates the </a:t>
            </a:r>
            <a:r>
              <a:rPr lang="en-US" dirty="0">
                <a:effectLst/>
                <a:latin typeface="+mn-lt"/>
                <a:hlinkClick r:id="rId12"/>
              </a:rPr>
              <a:t>ArASL2018 Dataset</a:t>
            </a:r>
            <a:r>
              <a:rPr lang="en-US" dirty="0">
                <a:effectLst/>
                <a:latin typeface="+mn-lt"/>
              </a:rPr>
              <a:t> (featuring over 54,000 images across 32 letters) to support fingerspelling words or names letter-by-letter. </a:t>
            </a:r>
          </a:p>
          <a:p>
            <a:pPr marR="0" lvl="0"/>
            <a:endParaRPr lang="en-US" dirty="0">
              <a:effectLst/>
              <a:latin typeface="+mn-lt"/>
            </a:endParaRPr>
          </a:p>
          <a:p>
            <a:pPr marL="0" marR="0" lvl="0" indent="-342900">
              <a:buFont typeface="Arial" panose="020B0604020202020204" pitchFamily="34" charset="0"/>
              <a:buChar char="•"/>
            </a:pPr>
            <a:r>
              <a:rPr lang="en-US" b="1" dirty="0">
                <a:effectLst/>
                <a:latin typeface="+mn-lt"/>
              </a:rPr>
              <a:t>Team Testing:</a:t>
            </a:r>
            <a:r>
              <a:rPr lang="en-US" dirty="0">
                <a:effectLst/>
                <a:latin typeface="+mn-lt"/>
              </a:rPr>
              <a:t> Generalization is tested using recordings of project team members mimicking signs under different lighting and camera setups. </a:t>
            </a:r>
            <a:endParaRPr lang="en-US" dirty="0">
              <a:effectLst/>
              <a:latin typeface="Google Sans Text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64B43BA2-EA52-0CDE-28B9-C060F35D66B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3878827" y="2522645"/>
            <a:ext cx="3522161" cy="136247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00A2ED5F-6594-CAC6-B056-E1A763E5556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4120343" y="4187799"/>
            <a:ext cx="3161075" cy="89181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B7C7DE54-AFC5-046C-78D2-B42F6FAF21A3}"/>
              </a:ext>
            </a:extLst>
          </p:cNvPr>
          <p:cNvSpPr txBox="1"/>
          <p:nvPr/>
        </p:nvSpPr>
        <p:spPr>
          <a:xfrm>
            <a:off x="362284" y="1396692"/>
            <a:ext cx="142295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 dirty="0"/>
              <a:t>The Issue:</a:t>
            </a:r>
            <a:r>
              <a:rPr lang="en-US" dirty="0"/>
              <a:t> Building a custom model from scratch gave poor accuracy/results.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 dirty="0"/>
              <a:t>The Pivot:</a:t>
            </a:r>
            <a:r>
              <a:rPr lang="en-US" dirty="0"/>
              <a:t> Dropping the traditional NLP pipeline approach and moving to using </a:t>
            </a:r>
            <a:r>
              <a:rPr lang="en-US" b="1" dirty="0"/>
              <a:t>LMs (Language Models)</a:t>
            </a:r>
            <a:r>
              <a:rPr lang="en-US" dirty="0"/>
              <a:t> instead.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FD998A3-EA4E-27D4-568B-EBE77E6F8C91}"/>
              </a:ext>
            </a:extLst>
          </p:cNvPr>
          <p:cNvSpPr txBox="1"/>
          <p:nvPr/>
        </p:nvSpPr>
        <p:spPr>
          <a:xfrm>
            <a:off x="227295" y="2360942"/>
            <a:ext cx="2252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NLP Or LLM  Or Both?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6D074CF-7C68-9758-CE0A-23BCA7A7FF78}"/>
              </a:ext>
            </a:extLst>
          </p:cNvPr>
          <p:cNvSpPr txBox="1"/>
          <p:nvPr/>
        </p:nvSpPr>
        <p:spPr>
          <a:xfrm>
            <a:off x="226194" y="2913968"/>
            <a:ext cx="880230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 dirty="0"/>
              <a:t>Hallucination Mitigation:</a:t>
            </a:r>
            <a:r>
              <a:rPr lang="en-US" dirty="0"/>
              <a:t> Strict constraint rules to prevent model drift and incorrect sign-to-text translations, keeping output grounded in valid gloss tokens.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 dirty="0"/>
              <a:t>Hybrid Processing Model (Speed vs. Power):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Traditional NLP (Local / No Internet):</a:t>
            </a:r>
            <a:r>
              <a:rPr lang="en-US" dirty="0"/>
              <a:t> Extremely fast, lightweight tokenization, pattern matching, and normalization running entirely client-side.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LLMs (Cloud / With Internet):</a:t>
            </a:r>
            <a:r>
              <a:rPr lang="en-US" dirty="0"/>
              <a:t> Used for deeper context, complex Arabic grammar restructuring, and fluent sentence generation where internet is available.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A49D5B3-D91F-5BCC-BCA0-FFC08186DD14}"/>
              </a:ext>
            </a:extLst>
          </p:cNvPr>
          <p:cNvSpPr txBox="1"/>
          <p:nvPr/>
        </p:nvSpPr>
        <p:spPr>
          <a:xfrm>
            <a:off x="852954" y="4965387"/>
            <a:ext cx="142295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b="1" dirty="0"/>
              <a:t>Results: Use Both</a:t>
            </a:r>
          </a:p>
        </p:txBody>
      </p:sp>
    </p:spTree>
    <p:extLst>
      <p:ext uri="{BB962C8B-B14F-4D97-AF65-F5344CB8AC3E}">
        <p14:creationId xmlns:p14="http://schemas.microsoft.com/office/powerpoint/2010/main" val="21303095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6" grpId="0"/>
      <p:bldP spid="38" grpId="0"/>
      <p:bldP spid="4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6AAFD8-D8CE-788A-544E-1B6EB571E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543074B-5452-3A2F-657A-B9FC33C5B2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4802"/>
            <a:ext cx="12191999" cy="6967603"/>
          </a:xfrm>
          <a:prstGeom prst="rect">
            <a:avLst/>
          </a:prstGeom>
        </p:spPr>
      </p:pic>
      <p:pic>
        <p:nvPicPr>
          <p:cNvPr id="8" name="Picture 7" descr="مبادرة رواد مصر الرقمية">
            <a:extLst>
              <a:ext uri="{FF2B5EF4-FFF2-40B4-BE49-F238E27FC236}">
                <a16:creationId xmlns:a16="http://schemas.microsoft.com/office/drawing/2014/main" id="{436E0EC3-E61A-285F-5483-942E66E4D6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5906" y="0"/>
            <a:ext cx="1014592" cy="93277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50E9155-E4BC-DF8E-0B53-E430BED885C8}"/>
              </a:ext>
            </a:extLst>
          </p:cNvPr>
          <p:cNvSpPr txBox="1"/>
          <p:nvPr/>
        </p:nvSpPr>
        <p:spPr>
          <a:xfrm>
            <a:off x="1098327" y="-4284731"/>
            <a:ext cx="9995343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000" dirty="0">
                <a:solidFill>
                  <a:srgbClr val="D3DCE5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An adaptive, multi-modal digital ecosystem that bridges communication gaps for people with diverse disabilities: Deaf/Mute, Blind, Dyslexic, and Aphasic users. Rather than a standalone mobile app, Rafeeq is architected as a lightweight browser extension that injects assistive UI overlays and real-time processing directly into mainstream web communication platforms such as WhatsApp Web and Facebook. meeting users where they already communicate.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4B9A000A-220B-98F2-3027-D36F62CB9D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6" y="-3560203"/>
            <a:ext cx="9144000" cy="2387600"/>
          </a:xfrm>
        </p:spPr>
        <p:txBody>
          <a:bodyPr/>
          <a:lstStyle/>
          <a:p>
            <a:r>
              <a:rPr lang="en-US" b="1" dirty="0">
                <a:solidFill>
                  <a:srgbClr val="D3DCE5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Project Rafeeq </a:t>
            </a:r>
            <a:br>
              <a:rPr lang="en-US" b="1" dirty="0">
                <a:solidFill>
                  <a:srgbClr val="D3DCE5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3400" b="1" dirty="0">
                <a:solidFill>
                  <a:srgbClr val="D3DCE5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First Milestone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83BA65B5-81DC-888A-0FAE-AB4EEAE0C6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6" y="-1121210"/>
            <a:ext cx="9144000" cy="1655762"/>
          </a:xfrm>
        </p:spPr>
        <p:txBody>
          <a:bodyPr>
            <a:normAutofit/>
          </a:bodyPr>
          <a:lstStyle/>
          <a:p>
            <a:r>
              <a:rPr lang="en-US" sz="2300" dirty="0">
                <a:solidFill>
                  <a:srgbClr val="D3DCE5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Browser-Based Accessibility Extension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E3F6C4E-C6D2-3EFD-956B-3AD52739A177}"/>
              </a:ext>
            </a:extLst>
          </p:cNvPr>
          <p:cNvSpPr txBox="1"/>
          <p:nvPr/>
        </p:nvSpPr>
        <p:spPr>
          <a:xfrm>
            <a:off x="-5982636" y="701830"/>
            <a:ext cx="580208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u="sng" dirty="0">
                <a:latin typeface="Cambria" panose="02040503050406030204" pitchFamily="18" charset="0"/>
                <a:ea typeface="Cambria" panose="02040503050406030204" pitchFamily="18" charset="0"/>
              </a:rPr>
              <a:t>Natural Language Processing</a:t>
            </a:r>
            <a:r>
              <a:rPr lang="en-US" sz="3000" b="1" u="sng" dirty="0">
                <a:solidFill>
                  <a:srgbClr val="D3DCE5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300" b="1" u="sng" dirty="0">
                <a:solidFill>
                  <a:srgbClr val="D3DCE5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(NLP)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B09973-FE8A-8C99-8928-84D722260231}"/>
              </a:ext>
            </a:extLst>
          </p:cNvPr>
          <p:cNvSpPr txBox="1"/>
          <p:nvPr/>
        </p:nvSpPr>
        <p:spPr>
          <a:xfrm>
            <a:off x="-4379812" y="655771"/>
            <a:ext cx="515982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u="sng" dirty="0">
                <a:latin typeface="Cambria" panose="02040503050406030204" pitchFamily="18" charset="0"/>
                <a:ea typeface="Cambria" panose="02040503050406030204" pitchFamily="18" charset="0"/>
              </a:rPr>
              <a:t>Computer Vision</a:t>
            </a:r>
          </a:p>
          <a:p>
            <a:pPr algn="ctr"/>
            <a:r>
              <a:rPr lang="en-US" sz="3000" b="1" u="sng" dirty="0">
                <a:solidFill>
                  <a:srgbClr val="D3DCE5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(CV)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DD6BAAF-B00D-4D94-29E2-B16AE8F2A4F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424" b="92067" l="3947" r="89944">
                        <a14:foregroundMark x1="39662" y1="21252" x2="29417" y2="10480"/>
                        <a14:foregroundMark x1="29417" y1="10480" x2="12594" y2="10699"/>
                        <a14:foregroundMark x1="12594" y1="10699" x2="20019" y2="25036"/>
                        <a14:foregroundMark x1="20019" y1="25036" x2="31955" y2="25910"/>
                        <a14:foregroundMark x1="58459" y1="10844" x2="47838" y2="9753"/>
                        <a14:foregroundMark x1="89850" y1="34352" x2="87030" y2="41776"/>
                        <a14:foregroundMark x1="9680" y1="13028" x2="24154" y2="7569"/>
                        <a14:foregroundMark x1="4041" y1="13537" x2="5075" y2="13537"/>
                        <a14:foregroundMark x1="79229" y1="89884" x2="59492" y2="95342"/>
                        <a14:foregroundMark x1="59492" y1="95342" x2="39474" y2="95924"/>
                        <a14:foregroundMark x1="39474" y1="95924" x2="20865" y2="92358"/>
                        <a14:foregroundMark x1="20865" y1="92358" x2="67575" y2="90684"/>
                        <a14:foregroundMark x1="67575" y1="90684" x2="46805" y2="90393"/>
                        <a14:foregroundMark x1="46805" y1="90393" x2="68139" y2="92067"/>
                        <a14:foregroundMark x1="68139" y1="92067" x2="24906" y2="87627"/>
                        <a14:foregroundMark x1="24906" y1="87627" x2="78947" y2="8719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399054" y="5204854"/>
            <a:ext cx="1322602" cy="170794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2E3B08F-1040-64EB-C8F1-4E10FB70539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9835" b="93784" l="9792" r="89911">
                        <a14:foregroundMark x1="45203" y1="46577" x2="27695" y2="38946"/>
                        <a14:foregroundMark x1="27695" y1="38946" x2="18892" y2="28403"/>
                        <a14:foregroundMark x1="18892" y1="28403" x2="34916" y2="19355"/>
                        <a14:foregroundMark x1="34916" y1="19355" x2="42730" y2="37530"/>
                        <a14:foregroundMark x1="42730" y1="37530" x2="17211" y2="32415"/>
                        <a14:foregroundMark x1="17211" y1="32415" x2="27992" y2="21164"/>
                        <a14:foregroundMark x1="27992" y1="21164" x2="34718" y2="42486"/>
                        <a14:foregroundMark x1="15848" y1="19755" x2="15668" y2="19539"/>
                        <a14:foregroundMark x1="34718" y1="42486" x2="17158" y2="21334"/>
                        <a14:foregroundMark x1="60040" y1="11487" x2="42433" y2="10936"/>
                        <a14:foregroundMark x1="42433" y1="10936" x2="62315" y2="9913"/>
                        <a14:foregroundMark x1="62315" y1="9913" x2="62512" y2="10386"/>
                        <a14:foregroundMark x1="14441" y1="90480" x2="33234" y2="92132"/>
                        <a14:foregroundMark x1="33234" y1="92132" x2="74580" y2="90716"/>
                        <a14:foregroundMark x1="74580" y1="90716" x2="84075" y2="91031"/>
                        <a14:foregroundMark x1="19782" y1="93234" x2="58655" y2="93784"/>
                        <a14:foregroundMark x1="58655" y1="93784" x2="84768" y2="93234"/>
                        <a14:foregroundMark x1="43422" y1="35956" x2="60435" y2="29032"/>
                        <a14:foregroundMark x1="60435" y1="29032" x2="41741" y2="21479"/>
                        <a14:foregroundMark x1="41741" y1="21479" x2="61523" y2="23053"/>
                        <a14:foregroundMark x1="61523" y1="23053" x2="42433" y2="18332"/>
                        <a14:foregroundMark x1="42433" y1="18332" x2="61128" y2="21007"/>
                        <a14:foregroundMark x1="61128" y1="21007" x2="61820" y2="21637"/>
                        <a14:backgroundMark x1="14837" y1="17703" x2="14441" y2="19355"/>
                        <a14:backgroundMark x1="15232" y1="19906" x2="15925" y2="2163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201882" y="5150053"/>
            <a:ext cx="1358563" cy="170794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3C17305-C033-16A5-6602-1AD8820FA78C}"/>
              </a:ext>
            </a:extLst>
          </p:cNvPr>
          <p:cNvSpPr txBox="1"/>
          <p:nvPr/>
        </p:nvSpPr>
        <p:spPr>
          <a:xfrm>
            <a:off x="1797270" y="792272"/>
            <a:ext cx="94619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System Workflow: Browser Extension &amp; Website</a:t>
            </a:r>
            <a:endParaRPr lang="en-US" sz="3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EAF2291-310C-2C91-1F3B-2E84A8688BF7}"/>
              </a:ext>
            </a:extLst>
          </p:cNvPr>
          <p:cNvSpPr txBox="1"/>
          <p:nvPr/>
        </p:nvSpPr>
        <p:spPr>
          <a:xfrm>
            <a:off x="1797270" y="7892625"/>
            <a:ext cx="92964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Our Next Milestone</a:t>
            </a:r>
          </a:p>
          <a:p>
            <a:pPr algn="ctr"/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Keep Brief  </a:t>
            </a:r>
          </a:p>
        </p:txBody>
      </p:sp>
      <p:pic>
        <p:nvPicPr>
          <p:cNvPr id="17" name="Image 0" descr="preencoded.png">
            <a:extLst>
              <a:ext uri="{FF2B5EF4-FFF2-40B4-BE49-F238E27FC236}">
                <a16:creationId xmlns:a16="http://schemas.microsoft.com/office/drawing/2014/main" id="{2A20982F-783B-B9B2-8804-DF287CFF049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3272" y="11259312"/>
            <a:ext cx="493776" cy="493776"/>
          </a:xfrm>
          <a:prstGeom prst="rect">
            <a:avLst/>
          </a:prstGeom>
        </p:spPr>
      </p:pic>
      <p:sp>
        <p:nvSpPr>
          <p:cNvPr id="19" name="Text 3">
            <a:extLst>
              <a:ext uri="{FF2B5EF4-FFF2-40B4-BE49-F238E27FC236}">
                <a16:creationId xmlns:a16="http://schemas.microsoft.com/office/drawing/2014/main" id="{EC8E11AC-00B2-FD69-F17A-D51B287B3750}"/>
              </a:ext>
            </a:extLst>
          </p:cNvPr>
          <p:cNvSpPr txBox="1"/>
          <p:nvPr/>
        </p:nvSpPr>
        <p:spPr>
          <a:xfrm>
            <a:off x="228600" y="12100560"/>
            <a:ext cx="210312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1F5F9"/>
                </a:solidFill>
              </a:rPr>
              <a:t>Person A</a:t>
            </a:r>
            <a:endParaRPr lang="en-US" sz="1800" dirty="0"/>
          </a:p>
        </p:txBody>
      </p:sp>
      <p:sp>
        <p:nvSpPr>
          <p:cNvPr id="21" name="Shape 4">
            <a:extLst>
              <a:ext uri="{FF2B5EF4-FFF2-40B4-BE49-F238E27FC236}">
                <a16:creationId xmlns:a16="http://schemas.microsoft.com/office/drawing/2014/main" id="{D183255B-CCA5-930F-3C1F-C84F1E75D8A0}"/>
              </a:ext>
            </a:extLst>
          </p:cNvPr>
          <p:cNvSpPr/>
          <p:nvPr/>
        </p:nvSpPr>
        <p:spPr>
          <a:xfrm>
            <a:off x="1920240" y="11506200"/>
            <a:ext cx="640080" cy="0"/>
          </a:xfrm>
          <a:prstGeom prst="line">
            <a:avLst/>
          </a:prstGeom>
          <a:noFill/>
          <a:ln w="25400">
            <a:solidFill>
              <a:srgbClr val="A3B1C6"/>
            </a:solidFill>
            <a:prstDash val="solid"/>
            <a:tailEnd type="triangle"/>
          </a:ln>
        </p:spPr>
      </p:sp>
      <p:pic>
        <p:nvPicPr>
          <p:cNvPr id="23" name="Image 1" descr="preencoded.png">
            <a:extLst>
              <a:ext uri="{FF2B5EF4-FFF2-40B4-BE49-F238E27FC236}">
                <a16:creationId xmlns:a16="http://schemas.microsoft.com/office/drawing/2014/main" id="{44ECC5C7-8D4E-7BF8-F558-EDDDF0E1A6C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53512" y="11259312"/>
            <a:ext cx="493776" cy="493776"/>
          </a:xfrm>
          <a:prstGeom prst="rect">
            <a:avLst/>
          </a:prstGeom>
        </p:spPr>
      </p:pic>
      <p:sp>
        <p:nvSpPr>
          <p:cNvPr id="25" name="Text 6">
            <a:extLst>
              <a:ext uri="{FF2B5EF4-FFF2-40B4-BE49-F238E27FC236}">
                <a16:creationId xmlns:a16="http://schemas.microsoft.com/office/drawing/2014/main" id="{B92BC6B8-6D11-30BB-ACED-736815390804}"/>
              </a:ext>
            </a:extLst>
          </p:cNvPr>
          <p:cNvSpPr txBox="1"/>
          <p:nvPr/>
        </p:nvSpPr>
        <p:spPr>
          <a:xfrm>
            <a:off x="2148840" y="12100560"/>
            <a:ext cx="210312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1F5F9"/>
                </a:solidFill>
              </a:rPr>
              <a:t>Speech</a:t>
            </a:r>
            <a:endParaRPr lang="en-US" sz="1800" dirty="0"/>
          </a:p>
        </p:txBody>
      </p:sp>
      <p:sp>
        <p:nvSpPr>
          <p:cNvPr id="27" name="Shape 7">
            <a:extLst>
              <a:ext uri="{FF2B5EF4-FFF2-40B4-BE49-F238E27FC236}">
                <a16:creationId xmlns:a16="http://schemas.microsoft.com/office/drawing/2014/main" id="{42367CF5-1632-6B45-50AF-BCBD053A1141}"/>
              </a:ext>
            </a:extLst>
          </p:cNvPr>
          <p:cNvSpPr/>
          <p:nvPr/>
        </p:nvSpPr>
        <p:spPr>
          <a:xfrm>
            <a:off x="3840480" y="11506200"/>
            <a:ext cx="457200" cy="0"/>
          </a:xfrm>
          <a:prstGeom prst="line">
            <a:avLst/>
          </a:prstGeom>
          <a:noFill/>
          <a:ln w="38100">
            <a:solidFill>
              <a:srgbClr val="2DD4BF"/>
            </a:solidFill>
            <a:prstDash val="solid"/>
            <a:tailEnd type="triangle"/>
          </a:ln>
        </p:spPr>
      </p:sp>
      <p:pic>
        <p:nvPicPr>
          <p:cNvPr id="29" name="Image 2" descr="preencoded.png">
            <a:extLst>
              <a:ext uri="{FF2B5EF4-FFF2-40B4-BE49-F238E27FC236}">
                <a16:creationId xmlns:a16="http://schemas.microsoft.com/office/drawing/2014/main" id="{27E5EE15-8C96-AFD6-7C23-5FE374580E5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73752" y="11259312"/>
            <a:ext cx="493776" cy="493776"/>
          </a:xfrm>
          <a:prstGeom prst="rect">
            <a:avLst/>
          </a:prstGeom>
        </p:spPr>
      </p:pic>
      <p:sp>
        <p:nvSpPr>
          <p:cNvPr id="31" name="Text 9">
            <a:extLst>
              <a:ext uri="{FF2B5EF4-FFF2-40B4-BE49-F238E27FC236}">
                <a16:creationId xmlns:a16="http://schemas.microsoft.com/office/drawing/2014/main" id="{034A8C39-4E4D-EE5E-0962-65C3DA688E26}"/>
              </a:ext>
            </a:extLst>
          </p:cNvPr>
          <p:cNvSpPr txBox="1"/>
          <p:nvPr/>
        </p:nvSpPr>
        <p:spPr>
          <a:xfrm>
            <a:off x="4069080" y="12146280"/>
            <a:ext cx="210312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1F5F9"/>
                </a:solidFill>
              </a:rPr>
              <a:t>Adaptive router</a:t>
            </a:r>
            <a:endParaRPr lang="en-US" sz="1800" dirty="0"/>
          </a:p>
        </p:txBody>
      </p:sp>
      <p:sp>
        <p:nvSpPr>
          <p:cNvPr id="33" name="Shape 10">
            <a:extLst>
              <a:ext uri="{FF2B5EF4-FFF2-40B4-BE49-F238E27FC236}">
                <a16:creationId xmlns:a16="http://schemas.microsoft.com/office/drawing/2014/main" id="{F3BE1E04-F64A-F73D-413B-7490BF446D25}"/>
              </a:ext>
            </a:extLst>
          </p:cNvPr>
          <p:cNvSpPr/>
          <p:nvPr/>
        </p:nvSpPr>
        <p:spPr>
          <a:xfrm>
            <a:off x="5943600" y="11506200"/>
            <a:ext cx="274320" cy="0"/>
          </a:xfrm>
          <a:prstGeom prst="line">
            <a:avLst/>
          </a:prstGeom>
          <a:noFill/>
          <a:ln w="38100">
            <a:solidFill>
              <a:srgbClr val="2DD4BF"/>
            </a:solidFill>
            <a:prstDash val="solid"/>
            <a:tailEnd type="triangle"/>
          </a:ln>
        </p:spPr>
      </p:sp>
      <p:pic>
        <p:nvPicPr>
          <p:cNvPr id="35" name="Image 3" descr="preencoded.png">
            <a:extLst>
              <a:ext uri="{FF2B5EF4-FFF2-40B4-BE49-F238E27FC236}">
                <a16:creationId xmlns:a16="http://schemas.microsoft.com/office/drawing/2014/main" id="{6F49707D-DF40-D864-6F41-1793AB24F02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93992" y="11259312"/>
            <a:ext cx="493776" cy="493776"/>
          </a:xfrm>
          <a:prstGeom prst="rect">
            <a:avLst/>
          </a:prstGeom>
        </p:spPr>
      </p:pic>
      <p:sp>
        <p:nvSpPr>
          <p:cNvPr id="37" name="Text 12">
            <a:extLst>
              <a:ext uri="{FF2B5EF4-FFF2-40B4-BE49-F238E27FC236}">
                <a16:creationId xmlns:a16="http://schemas.microsoft.com/office/drawing/2014/main" id="{61180CA9-6C64-5A35-25A6-B95A054777AF}"/>
              </a:ext>
            </a:extLst>
          </p:cNvPr>
          <p:cNvSpPr txBox="1"/>
          <p:nvPr/>
        </p:nvSpPr>
        <p:spPr>
          <a:xfrm>
            <a:off x="5989320" y="12100560"/>
            <a:ext cx="210312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1F5F9"/>
                </a:solidFill>
              </a:rPr>
              <a:t>Speech recognition</a:t>
            </a:r>
            <a:endParaRPr lang="en-US" sz="1800" dirty="0"/>
          </a:p>
        </p:txBody>
      </p:sp>
      <p:sp>
        <p:nvSpPr>
          <p:cNvPr id="39" name="Shape 13">
            <a:extLst>
              <a:ext uri="{FF2B5EF4-FFF2-40B4-BE49-F238E27FC236}">
                <a16:creationId xmlns:a16="http://schemas.microsoft.com/office/drawing/2014/main" id="{0B361B11-6329-F8CE-5912-0A2AA6200ABF}"/>
              </a:ext>
            </a:extLst>
          </p:cNvPr>
          <p:cNvSpPr/>
          <p:nvPr/>
        </p:nvSpPr>
        <p:spPr>
          <a:xfrm>
            <a:off x="7863840" y="11506200"/>
            <a:ext cx="457200" cy="0"/>
          </a:xfrm>
          <a:prstGeom prst="line">
            <a:avLst/>
          </a:prstGeom>
          <a:noFill/>
          <a:ln w="25400">
            <a:solidFill>
              <a:srgbClr val="A3B1C6"/>
            </a:solidFill>
            <a:prstDash val="solid"/>
            <a:tailEnd type="triangle"/>
          </a:ln>
        </p:spPr>
      </p:sp>
      <p:pic>
        <p:nvPicPr>
          <p:cNvPr id="41" name="Image 4" descr="preencoded.png">
            <a:extLst>
              <a:ext uri="{FF2B5EF4-FFF2-40B4-BE49-F238E27FC236}">
                <a16:creationId xmlns:a16="http://schemas.microsoft.com/office/drawing/2014/main" id="{365CDD48-D00D-8B08-F5C7-E872D389959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714232" y="11259312"/>
            <a:ext cx="493776" cy="493776"/>
          </a:xfrm>
          <a:prstGeom prst="rect">
            <a:avLst/>
          </a:prstGeom>
        </p:spPr>
      </p:pic>
      <p:sp>
        <p:nvSpPr>
          <p:cNvPr id="43" name="Text 15">
            <a:extLst>
              <a:ext uri="{FF2B5EF4-FFF2-40B4-BE49-F238E27FC236}">
                <a16:creationId xmlns:a16="http://schemas.microsoft.com/office/drawing/2014/main" id="{DFDD6D47-15FF-81D0-1516-09F7CD5C3AAA}"/>
              </a:ext>
            </a:extLst>
          </p:cNvPr>
          <p:cNvSpPr txBox="1"/>
          <p:nvPr/>
        </p:nvSpPr>
        <p:spPr>
          <a:xfrm>
            <a:off x="7909560" y="12100560"/>
            <a:ext cx="210312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1F5F9"/>
                </a:solidFill>
              </a:rPr>
              <a:t>Text</a:t>
            </a:r>
            <a:endParaRPr lang="en-US" sz="1800" dirty="0"/>
          </a:p>
        </p:txBody>
      </p:sp>
      <p:sp>
        <p:nvSpPr>
          <p:cNvPr id="45" name="Shape 16">
            <a:extLst>
              <a:ext uri="{FF2B5EF4-FFF2-40B4-BE49-F238E27FC236}">
                <a16:creationId xmlns:a16="http://schemas.microsoft.com/office/drawing/2014/main" id="{19F47441-4FCB-69C4-FEAB-70E5BA5C7550}"/>
              </a:ext>
            </a:extLst>
          </p:cNvPr>
          <p:cNvSpPr/>
          <p:nvPr/>
        </p:nvSpPr>
        <p:spPr>
          <a:xfrm>
            <a:off x="9601200" y="11506200"/>
            <a:ext cx="640080" cy="0"/>
          </a:xfrm>
          <a:prstGeom prst="line">
            <a:avLst/>
          </a:prstGeom>
          <a:noFill/>
          <a:ln w="25400">
            <a:solidFill>
              <a:srgbClr val="A3B1C6"/>
            </a:solidFill>
            <a:prstDash val="solid"/>
            <a:tailEnd type="triangle"/>
          </a:ln>
        </p:spPr>
      </p:sp>
      <p:pic>
        <p:nvPicPr>
          <p:cNvPr id="47" name="Image 5" descr="preencoded.png">
            <a:extLst>
              <a:ext uri="{FF2B5EF4-FFF2-40B4-BE49-F238E27FC236}">
                <a16:creationId xmlns:a16="http://schemas.microsoft.com/office/drawing/2014/main" id="{DBCF2724-86BC-C459-B740-03B202CE2FF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34472" y="11259312"/>
            <a:ext cx="493776" cy="493776"/>
          </a:xfrm>
          <a:prstGeom prst="rect">
            <a:avLst/>
          </a:prstGeom>
        </p:spPr>
      </p:pic>
      <p:sp>
        <p:nvSpPr>
          <p:cNvPr id="49" name="Text 18">
            <a:extLst>
              <a:ext uri="{FF2B5EF4-FFF2-40B4-BE49-F238E27FC236}">
                <a16:creationId xmlns:a16="http://schemas.microsoft.com/office/drawing/2014/main" id="{1091C9F3-9F56-B09D-1D1D-29D2C2B58708}"/>
              </a:ext>
            </a:extLst>
          </p:cNvPr>
          <p:cNvSpPr txBox="1"/>
          <p:nvPr/>
        </p:nvSpPr>
        <p:spPr>
          <a:xfrm>
            <a:off x="9829800" y="12100560"/>
            <a:ext cx="210312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1F5F9"/>
                </a:solidFill>
              </a:rPr>
              <a:t>Person B</a:t>
            </a:r>
            <a:endParaRPr lang="en-US" sz="18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2B13250-BB5D-A9A3-5532-9487166E0E7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34322" y="1671434"/>
            <a:ext cx="5626797" cy="4489466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C8FEEA6-8DEC-E08E-1D64-CCFD986914A6}"/>
              </a:ext>
            </a:extLst>
          </p:cNvPr>
          <p:cNvSpPr txBox="1"/>
          <p:nvPr/>
        </p:nvSpPr>
        <p:spPr>
          <a:xfrm>
            <a:off x="5786120" y="6442198"/>
            <a:ext cx="9296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Extension</a:t>
            </a:r>
            <a:endParaRPr lang="en-US" sz="20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BF4AF2C-FB5C-F800-344F-32AB33D7310E}"/>
              </a:ext>
            </a:extLst>
          </p:cNvPr>
          <p:cNvSpPr txBox="1"/>
          <p:nvPr/>
        </p:nvSpPr>
        <p:spPr>
          <a:xfrm>
            <a:off x="5819978" y="12741398"/>
            <a:ext cx="9296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Website</a:t>
            </a:r>
            <a:endParaRPr lang="en-US" sz="200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669D0B4D-E976-30A9-71FE-F4600320362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33133" y="7887725"/>
            <a:ext cx="8145516" cy="4581853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9EBA6E5-790D-DA8B-8DD2-9810367F2C63}"/>
              </a:ext>
            </a:extLst>
          </p:cNvPr>
          <p:cNvSpPr txBox="1"/>
          <p:nvPr/>
        </p:nvSpPr>
        <p:spPr>
          <a:xfrm>
            <a:off x="-11438329" y="1396692"/>
            <a:ext cx="142295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 dirty="0"/>
              <a:t>The Issue:</a:t>
            </a:r>
            <a:r>
              <a:rPr lang="en-US" dirty="0"/>
              <a:t> Building a custom model from scratch gave poor accuracy/results.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 dirty="0"/>
              <a:t>The Pivot:</a:t>
            </a:r>
            <a:r>
              <a:rPr lang="en-US" dirty="0"/>
              <a:t> Dropping the traditional NLP pipeline approach and moving to using </a:t>
            </a:r>
            <a:r>
              <a:rPr lang="en-US" b="1" dirty="0"/>
              <a:t>LMs (Language Models)</a:t>
            </a:r>
            <a:r>
              <a:rPr lang="en-US" dirty="0"/>
              <a:t> instead.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29A518E-2D6F-9AD2-B1B9-A160F6D9CD5A}"/>
              </a:ext>
            </a:extLst>
          </p:cNvPr>
          <p:cNvSpPr txBox="1"/>
          <p:nvPr/>
        </p:nvSpPr>
        <p:spPr>
          <a:xfrm>
            <a:off x="-11573318" y="2360942"/>
            <a:ext cx="2252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NLP Or LLM  Or Both?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0AB9394-4753-DD2B-17DB-D16A35EB1F53}"/>
              </a:ext>
            </a:extLst>
          </p:cNvPr>
          <p:cNvSpPr txBox="1"/>
          <p:nvPr/>
        </p:nvSpPr>
        <p:spPr>
          <a:xfrm>
            <a:off x="-11574419" y="2913968"/>
            <a:ext cx="880230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 dirty="0"/>
              <a:t>Hallucination Mitigation:</a:t>
            </a:r>
            <a:r>
              <a:rPr lang="en-US" dirty="0"/>
              <a:t> Strict constraint rules to prevent model drift and incorrect sign-to-text translations, keeping output grounded in valid gloss tokens.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 dirty="0"/>
              <a:t>Hybrid Processing Model (Speed vs. Power):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Traditional NLP (Local / No Internet):</a:t>
            </a:r>
            <a:r>
              <a:rPr lang="en-US" dirty="0"/>
              <a:t> Extremely fast, lightweight tokenization, pattern matching, and normalization running entirely client-side.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LLMs (Cloud / With Internet):</a:t>
            </a:r>
            <a:r>
              <a:rPr lang="en-US" dirty="0"/>
              <a:t> Used for deeper context, complex Arabic grammar restructuring, and fluent sentence generation where internet is available.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F9A769A-B2CB-5744-A574-33F262F7233D}"/>
              </a:ext>
            </a:extLst>
          </p:cNvPr>
          <p:cNvSpPr txBox="1"/>
          <p:nvPr/>
        </p:nvSpPr>
        <p:spPr>
          <a:xfrm>
            <a:off x="-10947659" y="4965387"/>
            <a:ext cx="142295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b="1" dirty="0"/>
              <a:t>Results: Use Both</a:t>
            </a:r>
          </a:p>
        </p:txBody>
      </p:sp>
    </p:spTree>
    <p:extLst>
      <p:ext uri="{BB962C8B-B14F-4D97-AF65-F5344CB8AC3E}">
        <p14:creationId xmlns:p14="http://schemas.microsoft.com/office/powerpoint/2010/main" val="9570440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A98ADA-AF95-7F22-E583-196404F68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C892795-4AD4-6756-B064-F724D19F72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4802"/>
            <a:ext cx="12191999" cy="6967603"/>
          </a:xfrm>
          <a:prstGeom prst="rect">
            <a:avLst/>
          </a:prstGeom>
        </p:spPr>
      </p:pic>
      <p:pic>
        <p:nvPicPr>
          <p:cNvPr id="8" name="Picture 7" descr="مبادرة رواد مصر الرقمية">
            <a:extLst>
              <a:ext uri="{FF2B5EF4-FFF2-40B4-BE49-F238E27FC236}">
                <a16:creationId xmlns:a16="http://schemas.microsoft.com/office/drawing/2014/main" id="{AEE4A7FE-2E1E-3158-C7F0-DA0A995841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5906" y="0"/>
            <a:ext cx="1014592" cy="93277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6EDB931-1616-618A-E052-0D220E40CE29}"/>
              </a:ext>
            </a:extLst>
          </p:cNvPr>
          <p:cNvSpPr txBox="1"/>
          <p:nvPr/>
        </p:nvSpPr>
        <p:spPr>
          <a:xfrm>
            <a:off x="1098327" y="-4284731"/>
            <a:ext cx="9995343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000" dirty="0">
                <a:solidFill>
                  <a:srgbClr val="D3DCE5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An adaptive, multi-modal digital ecosystem that bridges communication gaps for people with diverse disabilities: Deaf/Mute, Blind, Dyslexic, and Aphasic users. Rather than a standalone mobile app, Rafeeq is architected as a lightweight browser extension that injects assistive UI overlays and real-time processing directly into mainstream web communication platforms such as WhatsApp Web and Facebook. meeting users where they already communicate.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7D00AC13-E1D2-68C3-7C4F-DBA480FE4F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6" y="-3560203"/>
            <a:ext cx="9144000" cy="2387600"/>
          </a:xfrm>
        </p:spPr>
        <p:txBody>
          <a:bodyPr/>
          <a:lstStyle/>
          <a:p>
            <a:r>
              <a:rPr lang="en-US" b="1" dirty="0">
                <a:solidFill>
                  <a:srgbClr val="D3DCE5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Project Rafeeq </a:t>
            </a:r>
            <a:br>
              <a:rPr lang="en-US" b="1" dirty="0">
                <a:solidFill>
                  <a:srgbClr val="D3DCE5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3400" b="1" dirty="0">
                <a:solidFill>
                  <a:srgbClr val="D3DCE5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First Milestone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F619C485-2138-CCE2-D189-D72460AB59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6" y="-1121210"/>
            <a:ext cx="9144000" cy="1655762"/>
          </a:xfrm>
        </p:spPr>
        <p:txBody>
          <a:bodyPr>
            <a:normAutofit/>
          </a:bodyPr>
          <a:lstStyle/>
          <a:p>
            <a:r>
              <a:rPr lang="en-US" sz="2300" dirty="0">
                <a:solidFill>
                  <a:srgbClr val="D3DCE5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Browser-Based Accessibility Extension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C2DA9A2-5B47-BC2F-F4DD-DF4673F70AE7}"/>
              </a:ext>
            </a:extLst>
          </p:cNvPr>
          <p:cNvSpPr txBox="1"/>
          <p:nvPr/>
        </p:nvSpPr>
        <p:spPr>
          <a:xfrm>
            <a:off x="-5982636" y="701830"/>
            <a:ext cx="580208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u="sng" dirty="0">
                <a:latin typeface="Cambria" panose="02040503050406030204" pitchFamily="18" charset="0"/>
                <a:ea typeface="Cambria" panose="02040503050406030204" pitchFamily="18" charset="0"/>
              </a:rPr>
              <a:t>Natural Language Processing</a:t>
            </a:r>
            <a:r>
              <a:rPr lang="en-US" sz="3000" b="1" u="sng" dirty="0">
                <a:solidFill>
                  <a:srgbClr val="D3DCE5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300" b="1" u="sng" dirty="0">
                <a:solidFill>
                  <a:srgbClr val="D3DCE5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(NLP)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2FDA66-A0A0-DBEA-50B9-14BB41FC605F}"/>
              </a:ext>
            </a:extLst>
          </p:cNvPr>
          <p:cNvSpPr txBox="1"/>
          <p:nvPr/>
        </p:nvSpPr>
        <p:spPr>
          <a:xfrm>
            <a:off x="-4379812" y="655771"/>
            <a:ext cx="515982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u="sng" dirty="0">
                <a:latin typeface="Cambria" panose="02040503050406030204" pitchFamily="18" charset="0"/>
                <a:ea typeface="Cambria" panose="02040503050406030204" pitchFamily="18" charset="0"/>
              </a:rPr>
              <a:t>Computer Vision</a:t>
            </a:r>
          </a:p>
          <a:p>
            <a:pPr algn="ctr"/>
            <a:r>
              <a:rPr lang="en-US" sz="3000" b="1" u="sng" dirty="0">
                <a:solidFill>
                  <a:srgbClr val="D3DCE5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(CV)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AC24D80-6509-428D-34C4-33D0F115D7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424" b="92067" l="3947" r="89944">
                        <a14:foregroundMark x1="39662" y1="21252" x2="29417" y2="10480"/>
                        <a14:foregroundMark x1="29417" y1="10480" x2="12594" y2="10699"/>
                        <a14:foregroundMark x1="12594" y1="10699" x2="20019" y2="25036"/>
                        <a14:foregroundMark x1="20019" y1="25036" x2="31955" y2="25910"/>
                        <a14:foregroundMark x1="58459" y1="10844" x2="47838" y2="9753"/>
                        <a14:foregroundMark x1="89850" y1="34352" x2="87030" y2="41776"/>
                        <a14:foregroundMark x1="9680" y1="13028" x2="24154" y2="7569"/>
                        <a14:foregroundMark x1="4041" y1="13537" x2="5075" y2="13537"/>
                        <a14:foregroundMark x1="79229" y1="89884" x2="59492" y2="95342"/>
                        <a14:foregroundMark x1="59492" y1="95342" x2="39474" y2="95924"/>
                        <a14:foregroundMark x1="39474" y1="95924" x2="20865" y2="92358"/>
                        <a14:foregroundMark x1="20865" y1="92358" x2="67575" y2="90684"/>
                        <a14:foregroundMark x1="67575" y1="90684" x2="46805" y2="90393"/>
                        <a14:foregroundMark x1="46805" y1="90393" x2="68139" y2="92067"/>
                        <a14:foregroundMark x1="68139" y1="92067" x2="24906" y2="87627"/>
                        <a14:foregroundMark x1="24906" y1="87627" x2="78947" y2="8719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399054" y="5204854"/>
            <a:ext cx="1322602" cy="170794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3E12F9E-8BF5-B0B6-6B4E-508557628AE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9835" b="93784" l="9792" r="89911">
                        <a14:foregroundMark x1="45203" y1="46577" x2="27695" y2="38946"/>
                        <a14:foregroundMark x1="27695" y1="38946" x2="18892" y2="28403"/>
                        <a14:foregroundMark x1="18892" y1="28403" x2="34916" y2="19355"/>
                        <a14:foregroundMark x1="34916" y1="19355" x2="42730" y2="37530"/>
                        <a14:foregroundMark x1="42730" y1="37530" x2="17211" y2="32415"/>
                        <a14:foregroundMark x1="17211" y1="32415" x2="27992" y2="21164"/>
                        <a14:foregroundMark x1="27992" y1="21164" x2="34718" y2="42486"/>
                        <a14:foregroundMark x1="15848" y1="19755" x2="15668" y2="19539"/>
                        <a14:foregroundMark x1="34718" y1="42486" x2="17158" y2="21334"/>
                        <a14:foregroundMark x1="60040" y1="11487" x2="42433" y2="10936"/>
                        <a14:foregroundMark x1="42433" y1="10936" x2="62315" y2="9913"/>
                        <a14:foregroundMark x1="62315" y1="9913" x2="62512" y2="10386"/>
                        <a14:foregroundMark x1="14441" y1="90480" x2="33234" y2="92132"/>
                        <a14:foregroundMark x1="33234" y1="92132" x2="74580" y2="90716"/>
                        <a14:foregroundMark x1="74580" y1="90716" x2="84075" y2="91031"/>
                        <a14:foregroundMark x1="19782" y1="93234" x2="58655" y2="93784"/>
                        <a14:foregroundMark x1="58655" y1="93784" x2="84768" y2="93234"/>
                        <a14:foregroundMark x1="43422" y1="35956" x2="60435" y2="29032"/>
                        <a14:foregroundMark x1="60435" y1="29032" x2="41741" y2="21479"/>
                        <a14:foregroundMark x1="41741" y1="21479" x2="61523" y2="23053"/>
                        <a14:foregroundMark x1="61523" y1="23053" x2="42433" y2="18332"/>
                        <a14:foregroundMark x1="42433" y1="18332" x2="61128" y2="21007"/>
                        <a14:foregroundMark x1="61128" y1="21007" x2="61820" y2="21637"/>
                        <a14:backgroundMark x1="14837" y1="17703" x2="14441" y2="19355"/>
                        <a14:backgroundMark x1="15232" y1="19906" x2="15925" y2="2163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201882" y="5150053"/>
            <a:ext cx="1358563" cy="170794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5C47B36-451A-909B-F267-9564D17F2977}"/>
              </a:ext>
            </a:extLst>
          </p:cNvPr>
          <p:cNvSpPr txBox="1"/>
          <p:nvPr/>
        </p:nvSpPr>
        <p:spPr>
          <a:xfrm>
            <a:off x="1797270" y="792272"/>
            <a:ext cx="94619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System Workflow: Browser Extension &amp; Website</a:t>
            </a:r>
            <a:endParaRPr lang="en-US" sz="3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A585261-F057-5849-B667-1282BD866EF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34322" y="13253834"/>
            <a:ext cx="5626797" cy="4489466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57A567C-A568-DDC6-1A81-41C20FFCE7F0}"/>
              </a:ext>
            </a:extLst>
          </p:cNvPr>
          <p:cNvSpPr txBox="1"/>
          <p:nvPr/>
        </p:nvSpPr>
        <p:spPr>
          <a:xfrm>
            <a:off x="5786120" y="18024598"/>
            <a:ext cx="9296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Extension</a:t>
            </a:r>
            <a:endParaRPr lang="en-US" sz="20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0E69B13-E217-622F-2370-7BA7CAAE1C0B}"/>
              </a:ext>
            </a:extLst>
          </p:cNvPr>
          <p:cNvSpPr txBox="1"/>
          <p:nvPr/>
        </p:nvSpPr>
        <p:spPr>
          <a:xfrm>
            <a:off x="5819978" y="6467598"/>
            <a:ext cx="9296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Website</a:t>
            </a:r>
            <a:endParaRPr lang="en-US" sz="200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2CB01FB8-2655-047F-F3E4-05486825DB7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33133" y="1677425"/>
            <a:ext cx="8145516" cy="4581853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14F2F888-D738-A426-B4F0-795F192B0C83}"/>
              </a:ext>
            </a:extLst>
          </p:cNvPr>
          <p:cNvSpPr txBox="1"/>
          <p:nvPr/>
        </p:nvSpPr>
        <p:spPr>
          <a:xfrm>
            <a:off x="4014470" y="-1523553"/>
            <a:ext cx="39497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Our Next Milestone</a:t>
            </a:r>
          </a:p>
        </p:txBody>
      </p:sp>
    </p:spTree>
    <p:extLst>
      <p:ext uri="{BB962C8B-B14F-4D97-AF65-F5344CB8AC3E}">
        <p14:creationId xmlns:p14="http://schemas.microsoft.com/office/powerpoint/2010/main" val="4295528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EFACF-6965-D845-4B23-AFA7FE2B0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C3E12ED-027F-2A05-FF9B-E4B8433B60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4802"/>
            <a:ext cx="12191999" cy="6967603"/>
          </a:xfrm>
          <a:prstGeom prst="rect">
            <a:avLst/>
          </a:prstGeom>
        </p:spPr>
      </p:pic>
      <p:pic>
        <p:nvPicPr>
          <p:cNvPr id="8" name="Picture 7" descr="مبادرة رواد مصر الرقمية">
            <a:extLst>
              <a:ext uri="{FF2B5EF4-FFF2-40B4-BE49-F238E27FC236}">
                <a16:creationId xmlns:a16="http://schemas.microsoft.com/office/drawing/2014/main" id="{80BC7E78-103D-518F-C91A-2C4CC3174E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5906" y="0"/>
            <a:ext cx="1014592" cy="93277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A781CD3-3EA5-7F9C-B821-518171C83213}"/>
              </a:ext>
            </a:extLst>
          </p:cNvPr>
          <p:cNvSpPr txBox="1"/>
          <p:nvPr/>
        </p:nvSpPr>
        <p:spPr>
          <a:xfrm>
            <a:off x="1098327" y="-4284731"/>
            <a:ext cx="9995343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000" dirty="0">
                <a:solidFill>
                  <a:srgbClr val="D3DCE5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An adaptive, multi-modal digital ecosystem that bridges communication gaps for people with diverse disabilities: Deaf/Mute, Blind, Dyslexic, and Aphasic users. Rather than a standalone mobile app, Rafeeq is architected as a lightweight browser extension that injects assistive UI overlays and real-time processing directly into mainstream web communication platforms such as WhatsApp Web and Facebook. meeting users where they already communicate.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71066170-D683-9A33-3FD0-BE31045201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6" y="-3560203"/>
            <a:ext cx="9144000" cy="2387600"/>
          </a:xfrm>
        </p:spPr>
        <p:txBody>
          <a:bodyPr/>
          <a:lstStyle/>
          <a:p>
            <a:r>
              <a:rPr lang="en-US" b="1" dirty="0">
                <a:solidFill>
                  <a:srgbClr val="D3DCE5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Project Rafeeq </a:t>
            </a:r>
            <a:br>
              <a:rPr lang="en-US" b="1" dirty="0">
                <a:solidFill>
                  <a:srgbClr val="D3DCE5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3400" b="1" dirty="0">
                <a:solidFill>
                  <a:srgbClr val="D3DCE5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First Milestone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E63A42E2-599C-198A-55BC-602485087C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6" y="-1121210"/>
            <a:ext cx="9144000" cy="1655762"/>
          </a:xfrm>
        </p:spPr>
        <p:txBody>
          <a:bodyPr>
            <a:normAutofit/>
          </a:bodyPr>
          <a:lstStyle/>
          <a:p>
            <a:r>
              <a:rPr lang="en-US" sz="2300" dirty="0">
                <a:solidFill>
                  <a:srgbClr val="D3DCE5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Browser-Based Accessibility Extension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5CB978B-EAB2-D730-DF18-6ADB016FAA63}"/>
              </a:ext>
            </a:extLst>
          </p:cNvPr>
          <p:cNvSpPr txBox="1"/>
          <p:nvPr/>
        </p:nvSpPr>
        <p:spPr>
          <a:xfrm>
            <a:off x="-5982636" y="701830"/>
            <a:ext cx="580208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u="sng" dirty="0">
                <a:latin typeface="Cambria" panose="02040503050406030204" pitchFamily="18" charset="0"/>
                <a:ea typeface="Cambria" panose="02040503050406030204" pitchFamily="18" charset="0"/>
              </a:rPr>
              <a:t>Natural Language Processing</a:t>
            </a:r>
            <a:r>
              <a:rPr lang="en-US" sz="3000" b="1" u="sng" dirty="0">
                <a:solidFill>
                  <a:srgbClr val="D3DCE5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300" b="1" u="sng" dirty="0">
                <a:solidFill>
                  <a:srgbClr val="D3DCE5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(NLP)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B673B6-8074-A560-1D11-B1D53287A80A}"/>
              </a:ext>
            </a:extLst>
          </p:cNvPr>
          <p:cNvSpPr txBox="1"/>
          <p:nvPr/>
        </p:nvSpPr>
        <p:spPr>
          <a:xfrm>
            <a:off x="-4379812" y="655771"/>
            <a:ext cx="515982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u="sng" dirty="0">
                <a:latin typeface="Cambria" panose="02040503050406030204" pitchFamily="18" charset="0"/>
                <a:ea typeface="Cambria" panose="02040503050406030204" pitchFamily="18" charset="0"/>
              </a:rPr>
              <a:t>Computer Vision</a:t>
            </a:r>
          </a:p>
          <a:p>
            <a:pPr algn="ctr"/>
            <a:r>
              <a:rPr lang="en-US" sz="3000" b="1" u="sng" dirty="0">
                <a:solidFill>
                  <a:srgbClr val="D3DCE5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(CV)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264B3D0-ED9D-52BC-24D9-D5A726A58D1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424" b="92067" l="3947" r="89944">
                        <a14:foregroundMark x1="39662" y1="21252" x2="29417" y2="10480"/>
                        <a14:foregroundMark x1="29417" y1="10480" x2="12594" y2="10699"/>
                        <a14:foregroundMark x1="12594" y1="10699" x2="20019" y2="25036"/>
                        <a14:foregroundMark x1="20019" y1="25036" x2="31955" y2="25910"/>
                        <a14:foregroundMark x1="58459" y1="10844" x2="47838" y2="9753"/>
                        <a14:foregroundMark x1="89850" y1="34352" x2="87030" y2="41776"/>
                        <a14:foregroundMark x1="9680" y1="13028" x2="24154" y2="7569"/>
                        <a14:foregroundMark x1="4041" y1="13537" x2="5075" y2="13537"/>
                        <a14:foregroundMark x1="79229" y1="89884" x2="59492" y2="95342"/>
                        <a14:foregroundMark x1="59492" y1="95342" x2="39474" y2="95924"/>
                        <a14:foregroundMark x1="39474" y1="95924" x2="20865" y2="92358"/>
                        <a14:foregroundMark x1="20865" y1="92358" x2="67575" y2="90684"/>
                        <a14:foregroundMark x1="67575" y1="90684" x2="46805" y2="90393"/>
                        <a14:foregroundMark x1="46805" y1="90393" x2="68139" y2="92067"/>
                        <a14:foregroundMark x1="68139" y1="92067" x2="24906" y2="87627"/>
                        <a14:foregroundMark x1="24906" y1="87627" x2="78947" y2="8719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399054" y="5204854"/>
            <a:ext cx="1322602" cy="170794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04E0BB9-EC94-A183-6AD8-72E2D6B9681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9835" b="93784" l="9792" r="89911">
                        <a14:foregroundMark x1="45203" y1="46577" x2="27695" y2="38946"/>
                        <a14:foregroundMark x1="27695" y1="38946" x2="18892" y2="28403"/>
                        <a14:foregroundMark x1="18892" y1="28403" x2="34916" y2="19355"/>
                        <a14:foregroundMark x1="34916" y1="19355" x2="42730" y2="37530"/>
                        <a14:foregroundMark x1="42730" y1="37530" x2="17211" y2="32415"/>
                        <a14:foregroundMark x1="17211" y1="32415" x2="27992" y2="21164"/>
                        <a14:foregroundMark x1="27992" y1="21164" x2="34718" y2="42486"/>
                        <a14:foregroundMark x1="15848" y1="19755" x2="15668" y2="19539"/>
                        <a14:foregroundMark x1="34718" y1="42486" x2="17158" y2="21334"/>
                        <a14:foregroundMark x1="60040" y1="11487" x2="42433" y2="10936"/>
                        <a14:foregroundMark x1="42433" y1="10936" x2="62315" y2="9913"/>
                        <a14:foregroundMark x1="62315" y1="9913" x2="62512" y2="10386"/>
                        <a14:foregroundMark x1="14441" y1="90480" x2="33234" y2="92132"/>
                        <a14:foregroundMark x1="33234" y1="92132" x2="74580" y2="90716"/>
                        <a14:foregroundMark x1="74580" y1="90716" x2="84075" y2="91031"/>
                        <a14:foregroundMark x1="19782" y1="93234" x2="58655" y2="93784"/>
                        <a14:foregroundMark x1="58655" y1="93784" x2="84768" y2="93234"/>
                        <a14:foregroundMark x1="43422" y1="35956" x2="60435" y2="29032"/>
                        <a14:foregroundMark x1="60435" y1="29032" x2="41741" y2="21479"/>
                        <a14:foregroundMark x1="41741" y1="21479" x2="61523" y2="23053"/>
                        <a14:foregroundMark x1="61523" y1="23053" x2="42433" y2="18332"/>
                        <a14:foregroundMark x1="42433" y1="18332" x2="61128" y2="21007"/>
                        <a14:foregroundMark x1="61128" y1="21007" x2="61820" y2="21637"/>
                        <a14:backgroundMark x1="14837" y1="17703" x2="14441" y2="19355"/>
                        <a14:backgroundMark x1="15232" y1="19906" x2="15925" y2="2163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201882" y="5150053"/>
            <a:ext cx="1358563" cy="170794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834B072-442B-29D5-C859-EBD3728D8F4F}"/>
              </a:ext>
            </a:extLst>
          </p:cNvPr>
          <p:cNvSpPr txBox="1"/>
          <p:nvPr/>
        </p:nvSpPr>
        <p:spPr>
          <a:xfrm>
            <a:off x="3371076" y="-3860633"/>
            <a:ext cx="637849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Show </a:t>
            </a:r>
            <a:r>
              <a:rPr lang="en-US" sz="3000" b="1" dirty="0" err="1">
                <a:latin typeface="Cambria" panose="02040503050406030204" pitchFamily="18" charset="0"/>
                <a:ea typeface="Cambria" panose="02040503050406030204" pitchFamily="18" charset="0"/>
              </a:rPr>
              <a:t>Extention</a:t>
            </a: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/Web </a:t>
            </a:r>
            <a:r>
              <a:rPr lang="en-US" sz="3000" b="1" dirty="0" err="1">
                <a:latin typeface="Cambria" panose="02040503050406030204" pitchFamily="18" charset="0"/>
                <a:ea typeface="Cambria" panose="02040503050406030204" pitchFamily="18" charset="0"/>
              </a:rPr>
              <a:t>LookLike</a:t>
            </a: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 maybe video? Logo??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B37C204-B1AD-A5A6-4D2F-C41A4B74F56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05" t="14163" r="28785"/>
          <a:stretch>
            <a:fillRect/>
          </a:stretch>
        </p:blipFill>
        <p:spPr>
          <a:xfrm>
            <a:off x="5295900" y="-2543353"/>
            <a:ext cx="2120900" cy="237273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C546B23-438A-1958-216A-AE5A4B5C101B}"/>
              </a:ext>
            </a:extLst>
          </p:cNvPr>
          <p:cNvSpPr txBox="1"/>
          <p:nvPr/>
        </p:nvSpPr>
        <p:spPr>
          <a:xfrm>
            <a:off x="4014470" y="965647"/>
            <a:ext cx="39497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Our Next Milestone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0093130-29A4-E4AF-526C-E35D451D45A6}"/>
              </a:ext>
            </a:extLst>
          </p:cNvPr>
          <p:cNvSpPr txBox="1"/>
          <p:nvPr/>
        </p:nvSpPr>
        <p:spPr>
          <a:xfrm>
            <a:off x="5819978" y="12957298"/>
            <a:ext cx="9296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Website</a:t>
            </a:r>
            <a:endParaRPr lang="en-US" sz="20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9A86A7DB-7232-C264-9710-78B9944451A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33133" y="8103625"/>
            <a:ext cx="8145516" cy="4581853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E7BCA98C-2638-ECEA-8AF3-3E15611A76CD}"/>
              </a:ext>
            </a:extLst>
          </p:cNvPr>
          <p:cNvSpPr txBox="1"/>
          <p:nvPr/>
        </p:nvSpPr>
        <p:spPr>
          <a:xfrm>
            <a:off x="1797270" y="-2192228"/>
            <a:ext cx="94619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System Workflow: Browser Extension &amp; Website</a:t>
            </a:r>
            <a:endParaRPr lang="en-US" sz="3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E36644A-A8FF-9C37-B08D-FB02D819D9C2}"/>
              </a:ext>
            </a:extLst>
          </p:cNvPr>
          <p:cNvSpPr txBox="1"/>
          <p:nvPr/>
        </p:nvSpPr>
        <p:spPr>
          <a:xfrm>
            <a:off x="1680413" y="1681254"/>
            <a:ext cx="827913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Developing our core web extension infrastructure while researching new accessibility frontiers.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CADEF93-A95E-6393-B1C9-C2D8ED6C10B1}"/>
              </a:ext>
            </a:extLst>
          </p:cNvPr>
          <p:cNvSpPr txBox="1"/>
          <p:nvPr/>
        </p:nvSpPr>
        <p:spPr>
          <a:xfrm>
            <a:off x="1276778" y="2833417"/>
            <a:ext cx="939121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ctr">
              <a:buFont typeface="Arial" panose="020B0604020202020204" pitchFamily="34" charset="0"/>
              <a:buChar char="•"/>
            </a:pPr>
            <a:r>
              <a:rPr lang="en-US" sz="2000" b="1" dirty="0"/>
              <a:t>Core Extension &amp; Website Build:</a:t>
            </a:r>
            <a:r>
              <a:rPr lang="en-US" sz="2000" dirty="0"/>
              <a:t> Actively engineering the frontend user interface and companion website architecture alongside backend and frontend integration.</a:t>
            </a:r>
          </a:p>
          <a:p>
            <a:pPr lvl="0" algn="ctr"/>
            <a:endParaRPr lang="en-US" sz="2000" dirty="0"/>
          </a:p>
          <a:p>
            <a:pPr marL="342900" lvl="0" indent="-342900" algn="ctr">
              <a:buFont typeface="Arial" panose="020B0604020202020204" pitchFamily="34" charset="0"/>
              <a:buChar char="•"/>
            </a:pPr>
            <a:r>
              <a:rPr lang="en-US" sz="2000" b="1" dirty="0"/>
              <a:t>System Pipeline:</a:t>
            </a:r>
            <a:r>
              <a:rPr lang="en-US" sz="2000" dirty="0"/>
              <a:t> Establishing robust communication between the local browser capture extension and processing services.</a:t>
            </a:r>
          </a:p>
          <a:p>
            <a:pPr lvl="0" algn="ctr"/>
            <a:endParaRPr lang="en-US" sz="2000" dirty="0"/>
          </a:p>
          <a:p>
            <a:pPr marL="342900" lvl="0" indent="-342900" algn="ctr">
              <a:buFont typeface="Arial" panose="020B0604020202020204" pitchFamily="34" charset="0"/>
              <a:buChar char="•"/>
            </a:pPr>
            <a:r>
              <a:rPr lang="en-US" sz="2000" b="1" dirty="0"/>
              <a:t>Future Research:</a:t>
            </a:r>
            <a:r>
              <a:rPr lang="en-US" sz="2000" dirty="0"/>
              <a:t> Exploring early-stage research into aphasia support to see how our language and text normalization models can assist users with speech and language processing impairments.</a:t>
            </a:r>
          </a:p>
        </p:txBody>
      </p:sp>
    </p:spTree>
    <p:extLst>
      <p:ext uri="{BB962C8B-B14F-4D97-AF65-F5344CB8AC3E}">
        <p14:creationId xmlns:p14="http://schemas.microsoft.com/office/powerpoint/2010/main" val="40100022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3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3207</TotalTime>
  <Words>2627</Words>
  <Application>Microsoft Office PowerPoint</Application>
  <PresentationFormat>Widescreen</PresentationFormat>
  <Paragraphs>246</Paragraphs>
  <Slides>14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Cambria</vt:lpstr>
      <vt:lpstr>Google Sans Text</vt:lpstr>
      <vt:lpstr>Office Theme</vt:lpstr>
      <vt:lpstr>Project Rafeeq  First Milestone</vt:lpstr>
      <vt:lpstr>Project Rafeeq  First Milestone</vt:lpstr>
      <vt:lpstr>Project Rafeeq  First Milestone</vt:lpstr>
      <vt:lpstr>Project Rafeeq  First Milestone</vt:lpstr>
      <vt:lpstr>Project Rafeeq  First Milestone</vt:lpstr>
      <vt:lpstr>Project Rafeeq  First Milestone</vt:lpstr>
      <vt:lpstr>Project Rafeeq  First Milestone</vt:lpstr>
      <vt:lpstr>Project Rafeeq  First Milestone</vt:lpstr>
      <vt:lpstr>Project Rafeeq  First Milestone</vt:lpstr>
      <vt:lpstr>Project Rafeeq  First Milestone</vt:lpstr>
      <vt:lpstr>Project Rafeeq  First Milestone</vt:lpstr>
      <vt:lpstr>Project Rafeeq  First Milestone</vt:lpstr>
      <vt:lpstr>Project Rafeeq  First Milestone</vt:lpstr>
      <vt:lpstr>Project Rafeeq  First Milestone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Ismail Borhan</dc:creator>
  <cp:lastModifiedBy>Ismail Borhan</cp:lastModifiedBy>
  <cp:revision>10</cp:revision>
  <dcterms:created xsi:type="dcterms:W3CDTF">2026-10-04T17:20:18Z</dcterms:created>
  <dcterms:modified xsi:type="dcterms:W3CDTF">2026-10-17T13:58:42Z</dcterms:modified>
</cp:coreProperties>
</file>